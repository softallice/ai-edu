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97" r:id="rId4"/>
    <p:sldId id="303" r:id="rId5"/>
    <p:sldId id="301" r:id="rId6"/>
    <p:sldId id="302" r:id="rId7"/>
    <p:sldId id="299" r:id="rId8"/>
    <p:sldId id="300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91" r:id="rId20"/>
    <p:sldId id="298" r:id="rId21"/>
    <p:sldId id="268" r:id="rId22"/>
    <p:sldId id="269" r:id="rId23"/>
    <p:sldId id="270" r:id="rId24"/>
    <p:sldId id="271" r:id="rId25"/>
    <p:sldId id="272" r:id="rId26"/>
    <p:sldId id="273" r:id="rId27"/>
    <p:sldId id="292" r:id="rId28"/>
    <p:sldId id="274" r:id="rId29"/>
    <p:sldId id="293" r:id="rId30"/>
    <p:sldId id="275" r:id="rId31"/>
    <p:sldId id="294" r:id="rId32"/>
    <p:sldId id="276" r:id="rId33"/>
    <p:sldId id="295" r:id="rId34"/>
    <p:sldId id="277" r:id="rId35"/>
    <p:sldId id="296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2" autoAdjust="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CE6C4-25EC-4D63-86C0-CC2698FEB883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76CCF-26DC-4C08-9851-1DCC31542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47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92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https://antigravity.google/download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79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048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https://learn.microsoft.com/ko-kr/windows/wsl/install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982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npm_config_strict_ssl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#또는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strict-ssl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yarn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yarn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strict-ssl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pnpm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strict-ssl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374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EE58-69B0-43F3-86A1-66C55C2248B8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388BF-F501-4387-8F20-16753A9D804A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E99D-4598-413E-B751-6B23090B2B94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2F8-5EF5-4884-8A09-45B4D93EB3F0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D63F-0EC5-4742-9D1F-FFE4F4122093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0CC3-0B72-4526-B9E7-A70B93C507EA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8861-349A-4E7E-8462-3272FED5C8D3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701841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D390-E6A6-440C-B28A-5ECB757148DB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F9901-04D2-4CB8-8CE3-AD7CD24B2E89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20C4-AC92-4E88-B77E-14801A039A89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D019-880F-4CC1-AED1-43BD193BC2F7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AC3F-A4C5-47D7-BB93-83AC3CDD02E1}" type="datetime1">
              <a:rPr lang="en-US" altLang="ko-KR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antigravity.google/download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ftallice/ai-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0" b="1" i="0">
                <a:solidFill>
                  <a:srgbClr val="FFFFFF"/>
                </a:solidFill>
                <a:latin typeface="맑은 고딕"/>
              </a:rPr>
              <a:t>AI와 함께 개발하기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632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i="0">
                <a:solidFill>
                  <a:srgbClr val="E2E8F0"/>
                </a:solidFill>
                <a:latin typeface="맑은 고딕"/>
              </a:rPr>
              <a:t>채팅에서 하네스까지 — 신뢰를 쌓는 3단계</a:t>
            </a:r>
          </a:p>
        </p:txBody>
      </p:sp>
      <p:sp>
        <p:nvSpPr>
          <p:cNvPr id="6" name="Oval 5"/>
          <p:cNvSpPr/>
          <p:nvPr/>
        </p:nvSpPr>
        <p:spPr>
          <a:xfrm>
            <a:off x="5090007" y="3881627"/>
            <a:ext cx="201168" cy="20116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64327" y="3781034"/>
            <a:ext cx="548640" cy="4023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dirty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5912967" y="3881627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87287" y="3781034"/>
            <a:ext cx="548640" cy="4023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6735927" y="3881627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0" y="512064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NDS 사내 개발자 교육 · 180분 핸즈온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9847" y="5669280"/>
            <a:ext cx="2011680" cy="310896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lang="ko-KR" altLang="en-US" sz="1300" b="1" dirty="0">
                <a:solidFill>
                  <a:srgbClr val="0F172A"/>
                </a:solidFill>
                <a:latin typeface="Consolas"/>
              </a:rPr>
              <a:t>플랫폼 개발실 유원상</a:t>
            </a:r>
            <a:endParaRPr sz="1300" b="1" dirty="0">
              <a:solidFill>
                <a:srgbClr val="0F172A"/>
              </a:solidFill>
              <a:latin typeface="Consola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70167" y="5669280"/>
            <a:ext cx="2011680" cy="310896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lang="en-US" sz="1300" b="1" dirty="0">
                <a:solidFill>
                  <a:srgbClr val="0F172A"/>
                </a:solidFill>
                <a:latin typeface="Consolas"/>
              </a:rPr>
              <a:t>[2026.07.09]</a:t>
            </a:r>
            <a:endParaRPr sz="1300" b="1" dirty="0">
              <a:solidFill>
                <a:srgbClr val="0F172A"/>
              </a:solidFill>
              <a:latin typeface="Consolas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42A53EC6-4C56-697E-89F6-243F67438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4754880"/>
            <a:ext cx="10058400" cy="781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dirty="0" err="1">
                <a:solidFill>
                  <a:srgbClr val="FFFFFF"/>
                </a:solidFill>
                <a:latin typeface="맑은 고딕"/>
              </a:rPr>
              <a:t>프롬프트</a:t>
            </a:r>
            <a:r>
              <a:rPr lang="ko-KR" altLang="en-US" sz="4000" b="1" i="0" dirty="0">
                <a:solidFill>
                  <a:srgbClr val="FFFFFF"/>
                </a:solidFill>
                <a:latin typeface="맑은 고딕"/>
              </a:rPr>
              <a:t>로</a:t>
            </a:r>
            <a:r>
              <a:rPr sz="4000" b="1" i="0" dirty="0">
                <a:solidFill>
                  <a:srgbClr val="FFFFFF"/>
                </a:solidFill>
                <a:latin typeface="맑은 고딕"/>
              </a:rPr>
              <a:t> → </a:t>
            </a:r>
            <a:r>
              <a:rPr sz="4000" b="1" i="0" dirty="0" err="1">
                <a:solidFill>
                  <a:srgbClr val="FFFFFF"/>
                </a:solidFill>
                <a:latin typeface="맑은 고딕"/>
              </a:rPr>
              <a:t>영상</a:t>
            </a:r>
            <a:r>
              <a:rPr sz="4000" b="1" i="0" dirty="0">
                <a:solidFill>
                  <a:srgbClr val="FFFFFF"/>
                </a:solidFill>
                <a:latin typeface="맑은 고딕"/>
              </a:rPr>
              <a:t> 한 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4A3B8"/>
                </a:solidFill>
                <a:latin typeface="맑은 고딕"/>
              </a:rPr>
              <a:t>Gemini 라이브 시연 — 지금 직접 만들어 보겠습니다</a:t>
            </a:r>
          </a:p>
        </p:txBody>
      </p:sp>
      <p:pic>
        <p:nvPicPr>
          <p:cNvPr id="9" name="나이지리_수시_폭발된_보기_프롬프트__니기리_스시 (1)">
            <a:hlinkClick r:id="" action="ppaction://media"/>
            <a:extLst>
              <a:ext uri="{FF2B5EF4-FFF2-40B4-BE49-F238E27FC236}">
                <a16:creationId xmlns:a16="http://schemas.microsoft.com/office/drawing/2014/main" id="{03180927-055C-9E50-95AE-47542F17F4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96227" y="255307"/>
            <a:ext cx="7999240" cy="4499573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F3DA2-FEFA-CDAA-6459-76D5A4108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50CE824-6E2B-90E2-6A59-D2406B1A633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056C0-89FB-0EEB-CD06-9BA241B3CF06}"/>
              </a:ext>
            </a:extLst>
          </p:cNvPr>
          <p:cNvSpPr txBox="1"/>
          <p:nvPr/>
        </p:nvSpPr>
        <p:spPr>
          <a:xfrm>
            <a:off x="278675" y="3075057"/>
            <a:ext cx="112079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400" b="0" i="0" dirty="0">
                <a:solidFill>
                  <a:schemeClr val="bg1"/>
                </a:solidFill>
                <a:effectLst/>
                <a:latin typeface="Mona Sans VF"/>
              </a:rPr>
              <a:t>https://github.com/softallice/ai-edu.git</a:t>
            </a:r>
            <a:endParaRPr lang="ko-KR" altLang="en-US" sz="54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57F4AE2-CEAE-F81E-411D-0034F709B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391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B943F-D757-054A-3225-FF214508C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E8C759A-2478-F284-9AFD-91E2809A743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7853D1-FAA3-E28F-EAE4-4B8138AF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BE23F-1E0B-828D-B1D6-E303FEFC1403}"/>
              </a:ext>
            </a:extLst>
          </p:cNvPr>
          <p:cNvSpPr txBox="1"/>
          <p:nvPr/>
        </p:nvSpPr>
        <p:spPr>
          <a:xfrm>
            <a:off x="0" y="2651760"/>
            <a:ext cx="12191695" cy="8501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4400" b="1" dirty="0">
                <a:solidFill>
                  <a:srgbClr val="E2E8F0"/>
                </a:solidFill>
                <a:latin typeface="맑은 고딕"/>
              </a:rPr>
              <a:t>AI</a:t>
            </a:r>
            <a:r>
              <a:rPr lang="ko-KR" altLang="en-US" sz="4400" b="1" dirty="0">
                <a:solidFill>
                  <a:srgbClr val="E2E8F0"/>
                </a:solidFill>
                <a:latin typeface="맑은 고딕"/>
              </a:rPr>
              <a:t>와 쌓은 지식을 어떻게 </a:t>
            </a:r>
            <a:r>
              <a:rPr lang="ko-KR" altLang="en-US" sz="4400" b="1" dirty="0" err="1">
                <a:solidFill>
                  <a:srgbClr val="E2E8F0"/>
                </a:solidFill>
                <a:latin typeface="맑은 고딕"/>
              </a:rPr>
              <a:t>자산화할</a:t>
            </a:r>
            <a:r>
              <a:rPr lang="ko-KR" altLang="en-US" sz="4400" b="1" dirty="0">
                <a:solidFill>
                  <a:srgbClr val="E2E8F0"/>
                </a:solidFill>
                <a:latin typeface="맑은 고딕"/>
              </a:rPr>
              <a:t> 것인가</a:t>
            </a:r>
            <a:r>
              <a:rPr lang="en-US" altLang="ko-KR" sz="4400" b="1" dirty="0">
                <a:solidFill>
                  <a:srgbClr val="E2E8F0"/>
                </a:solidFill>
                <a:latin typeface="맑은 고딕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86288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643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 dirty="0">
                <a:solidFill>
                  <a:srgbClr val="7C3AED"/>
                </a:solidFill>
                <a:latin typeface="맑은 고딕"/>
              </a:rPr>
              <a:t>● 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① </a:t>
            </a:r>
            <a:r>
              <a:rPr lang="ko-KR" altLang="en-US" sz="3200" b="1" dirty="0">
                <a:solidFill>
                  <a:srgbClr val="E2E8F0"/>
                </a:solidFill>
                <a:latin typeface="맑은 고딕"/>
              </a:rPr>
              <a:t>코드와 도메인을 자산으로 만들기</a:t>
            </a:r>
            <a:endParaRPr sz="32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064" y="1234440"/>
            <a:ext cx="11167567" cy="385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700" b="0" i="0" dirty="0">
                <a:solidFill>
                  <a:srgbClr val="E2E8F0"/>
                </a:solidFill>
                <a:latin typeface="맑은 고딕"/>
              </a:rPr>
              <a:t>업무나 개발을 진행하면서 쌓인 노하우와 기술</a:t>
            </a:r>
            <a:r>
              <a:rPr lang="en-US" altLang="ko-KR" sz="1700" b="0" i="0" dirty="0">
                <a:solidFill>
                  <a:srgbClr val="E2E8F0"/>
                </a:solidFill>
                <a:latin typeface="맑은 고딕"/>
              </a:rPr>
              <a:t>, </a:t>
            </a:r>
            <a:r>
              <a:rPr lang="ko-KR" altLang="en-US" sz="1700" b="0" i="0" dirty="0">
                <a:solidFill>
                  <a:srgbClr val="E2E8F0"/>
                </a:solidFill>
                <a:latin typeface="맑은 고딕"/>
              </a:rPr>
              <a:t>방법을 자산으로 만들기</a:t>
            </a:r>
            <a:endParaRPr sz="1700" b="0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56131" y="2714896"/>
            <a:ext cx="3200400" cy="1097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56131" y="2714896"/>
            <a:ext cx="3200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7C3AED"/>
                </a:solidFill>
                <a:latin typeface="맑은 고딕"/>
              </a:rPr>
              <a:t>claude-obsidian 위키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컨텍스트 = 팀의 자산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핵심</a:t>
            </a:r>
            <a:r>
              <a:rPr sz="1500" b="0" i="0" dirty="0">
                <a:solidFill>
                  <a:srgbClr val="94A3B8"/>
                </a:solidFill>
                <a:latin typeface="맑은 고딕"/>
              </a:rPr>
              <a:t>: </a:t>
            </a: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코드는</a:t>
            </a:r>
            <a:r>
              <a:rPr sz="1500" b="0" i="0" dirty="0">
                <a:solidFill>
                  <a:srgbClr val="94A3B8"/>
                </a:solidFill>
                <a:latin typeface="맑은 고딕"/>
              </a:rPr>
              <a:t> 1회성, </a:t>
            </a: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위키는</a:t>
            </a:r>
            <a:r>
              <a:rPr sz="15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누적</a:t>
            </a:r>
            <a:r>
              <a:rPr sz="15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자산</a:t>
            </a:r>
            <a:r>
              <a:rPr sz="1500" b="0" i="0" dirty="0">
                <a:solidFill>
                  <a:srgbClr val="94A3B8"/>
                </a:solidFill>
                <a:latin typeface="맑은 고딕"/>
              </a:rPr>
              <a:t> — 두 </a:t>
            </a: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축을</a:t>
            </a:r>
            <a:r>
              <a:rPr sz="15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같이</a:t>
            </a:r>
            <a:r>
              <a:rPr sz="15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굴린다</a:t>
            </a:r>
            <a:r>
              <a:rPr sz="1500" b="0" i="0" dirty="0">
                <a:solidFill>
                  <a:srgbClr val="94A3B8"/>
                </a:solidFill>
                <a:latin typeface="맑은 고딕"/>
              </a:rPr>
              <a:t>.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3E03E7CB-30B1-E356-B99C-B56B28ACB528}"/>
              </a:ext>
            </a:extLst>
          </p:cNvPr>
          <p:cNvSpPr/>
          <p:nvPr/>
        </p:nvSpPr>
        <p:spPr>
          <a:xfrm>
            <a:off x="2609960" y="2074137"/>
            <a:ext cx="3200400" cy="1097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3925A7-23D0-2369-F173-EDEBF166D68F}"/>
              </a:ext>
            </a:extLst>
          </p:cNvPr>
          <p:cNvSpPr txBox="1"/>
          <p:nvPr/>
        </p:nvSpPr>
        <p:spPr>
          <a:xfrm>
            <a:off x="2609960" y="2413008"/>
            <a:ext cx="3200400" cy="4195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900" b="1" i="0" dirty="0">
                <a:solidFill>
                  <a:srgbClr val="3B82F6"/>
                </a:solidFill>
                <a:latin typeface="맑은 고딕"/>
              </a:rPr>
              <a:t>도메인 지식</a:t>
            </a:r>
            <a:endParaRPr sz="1900" b="1" i="0" dirty="0">
              <a:solidFill>
                <a:srgbClr val="3B82F6"/>
              </a:solidFill>
              <a:latin typeface="맑은 고딕"/>
            </a:endParaRPr>
          </a:p>
        </p:txBody>
      </p:sp>
      <p:sp>
        <p:nvSpPr>
          <p:cNvPr id="23" name="Right Arrow 11">
            <a:extLst>
              <a:ext uri="{FF2B5EF4-FFF2-40B4-BE49-F238E27FC236}">
                <a16:creationId xmlns:a16="http://schemas.microsoft.com/office/drawing/2014/main" id="{34ADF7E3-A091-BA9E-5A25-BAEE1E069B62}"/>
              </a:ext>
            </a:extLst>
          </p:cNvPr>
          <p:cNvSpPr/>
          <p:nvPr/>
        </p:nvSpPr>
        <p:spPr>
          <a:xfrm>
            <a:off x="5920088" y="2476473"/>
            <a:ext cx="402336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3998962A-3293-EC26-9963-920F1A4149F5}"/>
              </a:ext>
            </a:extLst>
          </p:cNvPr>
          <p:cNvSpPr/>
          <p:nvPr/>
        </p:nvSpPr>
        <p:spPr>
          <a:xfrm>
            <a:off x="2609960" y="3637761"/>
            <a:ext cx="3200400" cy="1097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C02FC3-5E0A-0FD3-0E50-E4AFBEF89143}"/>
              </a:ext>
            </a:extLst>
          </p:cNvPr>
          <p:cNvSpPr txBox="1"/>
          <p:nvPr/>
        </p:nvSpPr>
        <p:spPr>
          <a:xfrm>
            <a:off x="2609960" y="3976632"/>
            <a:ext cx="3200400" cy="4195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900" b="1" i="0" dirty="0">
                <a:solidFill>
                  <a:srgbClr val="10B981"/>
                </a:solidFill>
                <a:latin typeface="맑은 고딕"/>
              </a:rPr>
              <a:t>코드 및 개발 지식</a:t>
            </a:r>
            <a:endParaRPr sz="1900" b="1" i="0" dirty="0">
              <a:solidFill>
                <a:srgbClr val="10B981"/>
              </a:solidFill>
              <a:latin typeface="맑은 고딕"/>
            </a:endParaRPr>
          </a:p>
        </p:txBody>
      </p:sp>
      <p:sp>
        <p:nvSpPr>
          <p:cNvPr id="26" name="Right Arrow 11">
            <a:extLst>
              <a:ext uri="{FF2B5EF4-FFF2-40B4-BE49-F238E27FC236}">
                <a16:creationId xmlns:a16="http://schemas.microsoft.com/office/drawing/2014/main" id="{0609312D-2DD5-15E7-4609-35018ECD12E1}"/>
              </a:ext>
            </a:extLst>
          </p:cNvPr>
          <p:cNvSpPr/>
          <p:nvPr/>
        </p:nvSpPr>
        <p:spPr>
          <a:xfrm>
            <a:off x="5920088" y="4040097"/>
            <a:ext cx="402336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8162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BBBE-D9BF-5059-E4BF-B38F37038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30BAF8-AEED-55E1-8CE9-F9E01321347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74C5CA-7579-1B58-C553-3D6677A07300}"/>
              </a:ext>
            </a:extLst>
          </p:cNvPr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9B54545B-0707-6DC5-BC1E-48DE7E100DA2}"/>
              </a:ext>
            </a:extLst>
          </p:cNvPr>
          <p:cNvSpPr/>
          <p:nvPr/>
        </p:nvSpPr>
        <p:spPr>
          <a:xfrm>
            <a:off x="512064" y="321159"/>
            <a:ext cx="11261925" cy="5622441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5A884C-2555-130F-69D7-042FD8D8E467}"/>
              </a:ext>
            </a:extLst>
          </p:cNvPr>
          <p:cNvSpPr txBox="1"/>
          <p:nvPr/>
        </p:nvSpPr>
        <p:spPr>
          <a:xfrm>
            <a:off x="740664" y="426707"/>
            <a:ext cx="4989423" cy="4195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900" b="1" dirty="0">
                <a:solidFill>
                  <a:srgbClr val="7C3AED"/>
                </a:solidFill>
                <a:latin typeface="맑은 고딕"/>
              </a:rPr>
              <a:t>어떻게 설치하나</a:t>
            </a:r>
            <a:r>
              <a:rPr lang="en-US" altLang="ko-KR" sz="1900" b="1" dirty="0">
                <a:solidFill>
                  <a:srgbClr val="7C3AED"/>
                </a:solidFill>
                <a:latin typeface="맑은 고딕"/>
              </a:rPr>
              <a:t>?</a:t>
            </a:r>
            <a:endParaRPr sz="1900" b="1" i="0" dirty="0">
              <a:solidFill>
                <a:srgbClr val="7C3AED"/>
              </a:solidFill>
              <a:latin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7B9C0-CC42-70AE-94A3-723023BF27BF}"/>
              </a:ext>
            </a:extLst>
          </p:cNvPr>
          <p:cNvSpPr txBox="1"/>
          <p:nvPr/>
        </p:nvSpPr>
        <p:spPr>
          <a:xfrm>
            <a:off x="740664" y="1142992"/>
            <a:ext cx="9840250" cy="42965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000" b="1" dirty="0" err="1">
                <a:solidFill>
                  <a:srgbClr val="E2E8F0"/>
                </a:solidFill>
                <a:latin typeface="맑은 고딕"/>
              </a:rPr>
              <a:t>w</a:t>
            </a:r>
            <a:r>
              <a:rPr lang="en-US" sz="2000" b="1" i="0" dirty="0" err="1">
                <a:solidFill>
                  <a:srgbClr val="E2E8F0"/>
                </a:solidFill>
                <a:latin typeface="맑은 고딕"/>
              </a:rPr>
              <a:t>sl</a:t>
            </a:r>
            <a:endParaRPr lang="en-US" sz="2000" b="1" i="0" dirty="0">
              <a:solidFill>
                <a:srgbClr val="E2E8F0"/>
              </a:solidFill>
              <a:latin typeface="맑은 고딕"/>
            </a:endParaRPr>
          </a:p>
          <a:p>
            <a:r>
              <a:rPr lang="ko-KR" altLang="ko-KR" sz="2400" dirty="0" err="1">
                <a:solidFill>
                  <a:schemeClr val="bg1"/>
                </a:solidFill>
              </a:rPr>
              <a:t>cd</a:t>
            </a:r>
            <a:r>
              <a:rPr lang="ko-KR" altLang="ko-KR" sz="2400" dirty="0">
                <a:solidFill>
                  <a:schemeClr val="bg1"/>
                </a:solidFill>
              </a:rPr>
              <a:t> ~</a:t>
            </a:r>
          </a:p>
          <a:p>
            <a:r>
              <a:rPr lang="ko-KR" altLang="ko-KR" sz="2400" dirty="0" err="1">
                <a:solidFill>
                  <a:schemeClr val="bg1"/>
                </a:solidFill>
              </a:rPr>
              <a:t>cd</a:t>
            </a:r>
            <a:r>
              <a:rPr lang="ko-KR" altLang="ko-KR" sz="2400" dirty="0">
                <a:solidFill>
                  <a:schemeClr val="bg1"/>
                </a:solidFill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</a:rPr>
              <a:t>cd</a:t>
            </a:r>
            <a:r>
              <a:rPr lang="ko-KR" altLang="ko-KR" sz="2400" dirty="0">
                <a:solidFill>
                  <a:schemeClr val="bg1"/>
                </a:solidFill>
              </a:rPr>
              <a:t> /</a:t>
            </a:r>
            <a:r>
              <a:rPr lang="ko-KR" altLang="ko-KR" sz="2400" dirty="0" err="1">
                <a:solidFill>
                  <a:schemeClr val="bg1"/>
                </a:solidFill>
              </a:rPr>
              <a:t>mnt</a:t>
            </a:r>
            <a:r>
              <a:rPr lang="ko-KR" altLang="ko-KR" sz="2400" dirty="0">
                <a:solidFill>
                  <a:schemeClr val="bg1"/>
                </a:solidFill>
              </a:rPr>
              <a:t>/c/</a:t>
            </a:r>
            <a:r>
              <a:rPr lang="ko-KR" altLang="ko-KR" sz="2400" dirty="0" err="1">
                <a:solidFill>
                  <a:schemeClr val="bg1"/>
                </a:solidFill>
              </a:rPr>
              <a:t>Users</a:t>
            </a:r>
            <a:endParaRPr lang="ko-KR" altLang="ko-KR" sz="2400" dirty="0">
              <a:solidFill>
                <a:schemeClr val="bg1"/>
              </a:solidFill>
            </a:endParaRPr>
          </a:p>
          <a:p>
            <a:r>
              <a:rPr lang="ko-KR" altLang="ko-KR" sz="2400" dirty="0" err="1">
                <a:solidFill>
                  <a:schemeClr val="bg1"/>
                </a:solidFill>
              </a:rPr>
              <a:t>cd</a:t>
            </a:r>
            <a:r>
              <a:rPr lang="ko-KR" altLang="ko-KR" sz="2400" dirty="0">
                <a:solidFill>
                  <a:schemeClr val="bg1"/>
                </a:solidFill>
              </a:rPr>
              <a:t> [</a:t>
            </a:r>
            <a:r>
              <a:rPr lang="ko-KR" altLang="ko-KR" sz="2400" dirty="0" err="1">
                <a:solidFill>
                  <a:schemeClr val="bg1"/>
                </a:solidFill>
              </a:rPr>
              <a:t>개인폴더</a:t>
            </a:r>
            <a:r>
              <a:rPr lang="ko-KR" altLang="ko-KR" sz="2400" dirty="0">
                <a:solidFill>
                  <a:schemeClr val="bg1"/>
                </a:solidFill>
              </a:rPr>
              <a:t>]</a:t>
            </a:r>
          </a:p>
          <a:p>
            <a:pPr>
              <a:lnSpc>
                <a:spcPct val="130000"/>
              </a:lnSpc>
            </a:pPr>
            <a:r>
              <a:rPr lang="ko-KR" altLang="ko-KR" sz="2400" dirty="0" err="1">
                <a:solidFill>
                  <a:schemeClr val="bg1"/>
                </a:solidFill>
              </a:rPr>
              <a:t>git</a:t>
            </a:r>
            <a:r>
              <a:rPr lang="ko-KR" altLang="ko-KR" sz="2400" dirty="0">
                <a:solidFill>
                  <a:schemeClr val="bg1"/>
                </a:solidFill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</a:rPr>
              <a:t>clone</a:t>
            </a:r>
            <a:r>
              <a:rPr lang="ko-KR" altLang="ko-KR" sz="2400" dirty="0">
                <a:solidFill>
                  <a:schemeClr val="bg1"/>
                </a:solidFill>
              </a:rPr>
              <a:t> https://github.com/AgriciDaniel/claude-obsidian.git</a:t>
            </a:r>
          </a:p>
          <a:p>
            <a:r>
              <a:rPr lang="ko-KR" altLang="ko-KR" sz="2400" dirty="0" err="1">
                <a:solidFill>
                  <a:schemeClr val="bg1"/>
                </a:solidFill>
              </a:rPr>
              <a:t>cd</a:t>
            </a:r>
            <a:r>
              <a:rPr lang="ko-KR" altLang="ko-KR" sz="2400" dirty="0">
                <a:solidFill>
                  <a:schemeClr val="bg1"/>
                </a:solidFill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</a:rPr>
              <a:t>claude-obsidian</a:t>
            </a:r>
            <a:endParaRPr lang="ko-KR" altLang="ko-KR" sz="2400" dirty="0">
              <a:solidFill>
                <a:schemeClr val="bg1"/>
              </a:solidFill>
            </a:endParaRPr>
          </a:p>
          <a:p>
            <a:r>
              <a:rPr lang="ko-KR" altLang="ko-KR" sz="2400" dirty="0" err="1">
                <a:solidFill>
                  <a:schemeClr val="bg1"/>
                </a:solidFill>
              </a:rPr>
              <a:t>bash</a:t>
            </a:r>
            <a:r>
              <a:rPr lang="ko-KR" altLang="ko-KR" sz="2400" dirty="0">
                <a:solidFill>
                  <a:schemeClr val="bg1"/>
                </a:solidFill>
              </a:rPr>
              <a:t> bin/setup-vault.sh</a:t>
            </a:r>
          </a:p>
          <a:p>
            <a:r>
              <a:rPr lang="ko-KR" altLang="ko-KR" sz="2400" dirty="0" err="1">
                <a:solidFill>
                  <a:schemeClr val="bg1"/>
                </a:solidFill>
              </a:rPr>
              <a:t>claude</a:t>
            </a:r>
            <a:endParaRPr lang="ko-KR" altLang="ko-KR" sz="2400" dirty="0">
              <a:solidFill>
                <a:schemeClr val="bg1"/>
              </a:solidFill>
            </a:endParaRPr>
          </a:p>
          <a:p>
            <a:r>
              <a:rPr lang="ko-KR" altLang="ko-KR" sz="2400" dirty="0">
                <a:solidFill>
                  <a:schemeClr val="bg1"/>
                </a:solidFill>
              </a:rPr>
              <a:t>/</a:t>
            </a:r>
            <a:r>
              <a:rPr lang="ko-KR" altLang="ko-KR" sz="2400" dirty="0" err="1">
                <a:solidFill>
                  <a:schemeClr val="bg1"/>
                </a:solidFill>
              </a:rPr>
              <a:t>plugin</a:t>
            </a:r>
            <a:r>
              <a:rPr lang="ko-KR" altLang="ko-KR" sz="2400" dirty="0">
                <a:solidFill>
                  <a:schemeClr val="bg1"/>
                </a:solidFill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</a:rPr>
              <a:t>marketplace</a:t>
            </a:r>
            <a:r>
              <a:rPr lang="ko-KR" altLang="ko-KR" sz="2400" dirty="0">
                <a:solidFill>
                  <a:schemeClr val="bg1"/>
                </a:solidFill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</a:rPr>
              <a:t>add</a:t>
            </a:r>
            <a:r>
              <a:rPr lang="ko-KR" altLang="ko-KR" sz="2400" dirty="0">
                <a:solidFill>
                  <a:schemeClr val="bg1"/>
                </a:solidFill>
              </a:rPr>
              <a:t> /</a:t>
            </a:r>
            <a:r>
              <a:rPr lang="ko-KR" altLang="ko-KR" sz="2400" dirty="0" err="1">
                <a:solidFill>
                  <a:schemeClr val="bg1"/>
                </a:solidFill>
              </a:rPr>
              <a:t>mnt</a:t>
            </a:r>
            <a:r>
              <a:rPr lang="ko-KR" altLang="ko-KR" sz="2400" dirty="0">
                <a:solidFill>
                  <a:schemeClr val="bg1"/>
                </a:solidFill>
              </a:rPr>
              <a:t>/c/</a:t>
            </a:r>
            <a:r>
              <a:rPr lang="ko-KR" altLang="ko-KR" sz="2400" dirty="0" err="1">
                <a:solidFill>
                  <a:schemeClr val="bg1"/>
                </a:solidFill>
              </a:rPr>
              <a:t>Users</a:t>
            </a:r>
            <a:r>
              <a:rPr lang="ko-KR" altLang="ko-KR" sz="2400" dirty="0">
                <a:solidFill>
                  <a:schemeClr val="bg1"/>
                </a:solidFill>
              </a:rPr>
              <a:t>/[</a:t>
            </a:r>
            <a:r>
              <a:rPr lang="ko-KR" altLang="ko-KR" sz="2400" dirty="0" err="1">
                <a:solidFill>
                  <a:schemeClr val="bg1"/>
                </a:solidFill>
              </a:rPr>
              <a:t>개인폴더</a:t>
            </a:r>
            <a:r>
              <a:rPr lang="ko-KR" altLang="ko-KR" sz="2400" dirty="0">
                <a:solidFill>
                  <a:schemeClr val="bg1"/>
                </a:solidFill>
              </a:rPr>
              <a:t>]/</a:t>
            </a:r>
            <a:r>
              <a:rPr lang="ko-KR" altLang="ko-KR" sz="2400" dirty="0" err="1">
                <a:solidFill>
                  <a:schemeClr val="bg1"/>
                </a:solidFill>
              </a:rPr>
              <a:t>claude-obsidian</a:t>
            </a:r>
            <a:endParaRPr lang="ko-KR" altLang="ko-KR" sz="2400" dirty="0">
              <a:solidFill>
                <a:schemeClr val="bg1"/>
              </a:solidFill>
            </a:endParaRPr>
          </a:p>
          <a:p>
            <a:r>
              <a:rPr lang="ko-KR" altLang="ko-KR" sz="2400" dirty="0">
                <a:solidFill>
                  <a:schemeClr val="bg1"/>
                </a:solidFill>
              </a:rPr>
              <a:t>/</a:t>
            </a:r>
            <a:r>
              <a:rPr lang="ko-KR" altLang="ko-KR" sz="2400" dirty="0" err="1">
                <a:solidFill>
                  <a:schemeClr val="bg1"/>
                </a:solidFill>
              </a:rPr>
              <a:t>plugin</a:t>
            </a:r>
            <a:r>
              <a:rPr lang="ko-KR" altLang="ko-KR" sz="2400" dirty="0">
                <a:solidFill>
                  <a:schemeClr val="bg1"/>
                </a:solidFill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</a:rPr>
              <a:t>install</a:t>
            </a:r>
            <a:r>
              <a:rPr lang="ko-KR" altLang="ko-KR" sz="2400" dirty="0">
                <a:solidFill>
                  <a:schemeClr val="bg1"/>
                </a:solidFill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</a:rPr>
              <a:t>claude-obsidian@agricidaniel-claude-obsidian</a:t>
            </a:r>
            <a:endParaRPr lang="ko-KR" altLang="ko-KR" sz="2400" dirty="0">
              <a:solidFill>
                <a:schemeClr val="bg1"/>
              </a:solidFill>
            </a:endParaRPr>
          </a:p>
          <a:p>
            <a:r>
              <a:rPr lang="ko-KR" altLang="ko-KR" sz="2400" dirty="0">
                <a:solidFill>
                  <a:schemeClr val="bg1"/>
                </a:solidFill>
              </a:rPr>
              <a:t>/</a:t>
            </a:r>
            <a:r>
              <a:rPr lang="ko-KR" altLang="ko-KR" sz="2400" dirty="0" err="1">
                <a:solidFill>
                  <a:schemeClr val="bg1"/>
                </a:solidFill>
              </a:rPr>
              <a:t>reload-plugins</a:t>
            </a:r>
            <a:r>
              <a:rPr lang="ko-KR" altLang="ko-KR" sz="2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951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643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</a:pPr>
            <a:r>
              <a:rPr sz="2400" b="1" i="0" dirty="0">
                <a:solidFill>
                  <a:srgbClr val="7C3AED"/>
                </a:solidFill>
                <a:latin typeface="맑은 고딕"/>
              </a:rPr>
              <a:t>● </a:t>
            </a:r>
            <a:r>
              <a:rPr lang="ko-KR" altLang="en-US" sz="3200" b="1" dirty="0">
                <a:solidFill>
                  <a:srgbClr val="E2E8F0"/>
                </a:solidFill>
                <a:latin typeface="맑은 고딕"/>
              </a:rPr>
              <a:t>②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엔지니어링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위키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(Obsidian ·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claude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-obsidian)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463040"/>
            <a:ext cx="5446623" cy="44805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645920"/>
            <a:ext cx="49894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7C3AED"/>
                </a:solidFill>
                <a:latin typeface="맑은 고딕"/>
              </a:rPr>
              <a:t>무엇을 쓰나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240280"/>
            <a:ext cx="4989423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claude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-obsidian = Claude Code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플러그인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겸 Obsidian vault (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Karpathy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LLM Wiki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패턴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).
ingest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하면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교차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참조된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위키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페이지가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자동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생성되고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, query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하면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학습데이터가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아니라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'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우리가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쌓은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위키'에서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답합니다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.
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지식이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세션마다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복리로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맑은 고딕"/>
              </a:rPr>
              <a:t>늘어납니다</a:t>
            </a:r>
            <a:r>
              <a:rPr sz="1600" b="0" i="0" dirty="0">
                <a:solidFill>
                  <a:srgbClr val="E2E8F0"/>
                </a:solidFill>
                <a:latin typeface="맑은 고딕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463040"/>
            <a:ext cx="5446623" cy="44805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/>
            <a:r>
              <a:rPr sz="1200" b="1">
                <a:solidFill>
                  <a:srgbClr val="94A3B8"/>
                </a:solidFill>
                <a:latin typeface="맑은 고딕"/>
              </a:rPr>
              <a:t>vault 구조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94A3B8"/>
                </a:solidFill>
                <a:latin typeface="Consolas"/>
              </a:rPr>
              <a:t>.raw/         소스 원본 (읽기 전용)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B981"/>
                </a:solidFill>
                <a:latin typeface="Consolas"/>
              </a:rPr>
              <a:t>wiki/         자동 생성 지식 베이스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2E8F0"/>
                </a:solidFill>
                <a:latin typeface="Consolas"/>
              </a:rPr>
              <a:t>  index.md    전체 색인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2E8F0"/>
                </a:solidFill>
                <a:latin typeface="Consolas"/>
              </a:rPr>
              <a:t>  hot.md      최근 컨텍스트 캐시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2E8F0"/>
                </a:solidFill>
                <a:latin typeface="Consolas"/>
              </a:rPr>
              <a:t>  log.md      작업 로그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2E8F0"/>
                </a:solidFill>
                <a:latin typeface="Consolas"/>
              </a:rPr>
              <a:t>  domain/     도메인 규칙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2E8F0"/>
                </a:solidFill>
                <a:latin typeface="Consolas"/>
              </a:rPr>
              <a:t>  schema/     테이블 명세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2E8F0"/>
                </a:solidFill>
                <a:latin typeface="Consolas"/>
              </a:rPr>
              <a:t>  standards/  코딩·보안 표준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94A3B8"/>
                </a:solidFill>
                <a:latin typeface="Consolas"/>
              </a:rPr>
              <a:t>_templates/   entity·concept·source</a:t>
            </a:r>
          </a:p>
        </p:txBody>
      </p:sp>
    </p:spTree>
    <p:extLst>
      <p:ext uri="{BB962C8B-B14F-4D97-AF65-F5344CB8AC3E}">
        <p14:creationId xmlns:p14="http://schemas.microsoft.com/office/powerpoint/2010/main" val="287367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643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</a:pPr>
            <a:r>
              <a:rPr sz="2400" b="1" i="0" dirty="0">
                <a:solidFill>
                  <a:srgbClr val="7C3AED"/>
                </a:solidFill>
                <a:latin typeface="맑은 고딕"/>
              </a:rPr>
              <a:t>● </a:t>
            </a:r>
            <a:r>
              <a:rPr lang="ko-KR" altLang="en-US" sz="3200" b="1" dirty="0">
                <a:solidFill>
                  <a:srgbClr val="FFFFFF"/>
                </a:solidFill>
                <a:latin typeface="맑은 고딕"/>
              </a:rPr>
              <a:t>②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claude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-obsidian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명령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&amp;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흐름</a:t>
            </a:r>
            <a:endParaRPr sz="3200" b="1" i="0" dirty="0">
              <a:solidFill>
                <a:srgbClr val="E2E8F0"/>
              </a:solidFill>
              <a:latin typeface="맑은 고딕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2064" y="1371600"/>
          <a:ext cx="11164824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1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명령</a:t>
                      </a:r>
                    </a:p>
                  </a:txBody>
                  <a:tcPr marL="101600" marR="101600" marT="38100" marB="381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marL="101600" marR="101600" marT="38100" marB="38100"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Consolas"/>
                        </a:rPr>
                        <a:t>/wiki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셋업·스캐폴드, '이 vault 용도?' 1회 질문 후 구조 생성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Consolas"/>
                        </a:rPr>
                        <a:t>ingest [파일]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.raw/ 소스 → 교차참조 위키 페이지 8~15개 + index/log 갱신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Consolas"/>
                        </a:rPr>
                        <a:t>query: [질문]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위키 내용으로 답변(근거 페이지 인용)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Consolas"/>
                        </a:rPr>
                        <a:t>/save [이름]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현재 대화를 구조화된 위키 노트로 저장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Consolas"/>
                        </a:rPr>
                        <a:t>lint the wiki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고아·끊긴 링크·공백 점검 (ingest 10~15회마다)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2064" y="5029200"/>
            <a:ext cx="11167567" cy="6027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dirty="0" err="1">
                <a:solidFill>
                  <a:srgbClr val="7C3AED"/>
                </a:solidFill>
                <a:latin typeface="맑은 고딕"/>
              </a:rPr>
              <a:t>실습</a:t>
            </a:r>
            <a:r>
              <a:rPr sz="1400" b="1" i="0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7C3AED"/>
                </a:solidFill>
                <a:latin typeface="맑은 고딕"/>
              </a:rPr>
              <a:t>흐름</a:t>
            </a:r>
            <a:r>
              <a:rPr sz="1400" b="1" i="0" dirty="0">
                <a:solidFill>
                  <a:srgbClr val="7C3AED"/>
                </a:solidFill>
                <a:latin typeface="맑은 고딕"/>
              </a:rPr>
              <a:t>  </a:t>
            </a:r>
          </a:p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94A3B8"/>
                </a:solidFill>
                <a:latin typeface="맑은 고딕"/>
              </a:rPr>
              <a:t>bash bin/setup-vault.sh →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Obsidian에서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폴더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열기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→ /wiki → .raw/에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DDL·엔티티·표준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투입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→ ingest →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query로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검증</a:t>
            </a:r>
            <a:endParaRPr sz="1400" b="0" i="0" dirty="0">
              <a:solidFill>
                <a:srgbClr val="94A3B8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39659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 dirty="0" err="1">
                <a:solidFill>
                  <a:srgbClr val="94A3B8"/>
                </a:solidFill>
                <a:latin typeface="맑은 고딕"/>
              </a:rPr>
              <a:t>신기하죠</a:t>
            </a:r>
            <a:r>
              <a:rPr sz="3000" b="0" i="0" dirty="0">
                <a:solidFill>
                  <a:srgbClr val="94A3B8"/>
                </a:solidFill>
                <a:latin typeface="맑은 고딕"/>
              </a:rPr>
              <a:t>. </a:t>
            </a:r>
            <a:r>
              <a:rPr sz="3000" b="0" i="0" dirty="0" err="1">
                <a:solidFill>
                  <a:srgbClr val="94A3B8"/>
                </a:solidFill>
                <a:latin typeface="맑은 고딕"/>
              </a:rPr>
              <a:t>그런데</a:t>
            </a:r>
            <a:r>
              <a:rPr sz="3000" b="0" i="0" dirty="0">
                <a:solidFill>
                  <a:srgbClr val="94A3B8"/>
                </a:solidFill>
                <a:latin typeface="맑은 고딕"/>
              </a:rPr>
              <a:t>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12191695" cy="8501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4400" b="1" i="0" dirty="0">
                <a:solidFill>
                  <a:srgbClr val="E2E8F0"/>
                </a:solidFill>
                <a:latin typeface="맑은 고딕"/>
              </a:rPr>
              <a:t>프롬프트</a:t>
            </a:r>
            <a:r>
              <a:rPr lang="ko-KR" altLang="en-US" sz="4400" b="1" dirty="0">
                <a:solidFill>
                  <a:srgbClr val="E2E8F0"/>
                </a:solidFill>
                <a:latin typeface="맑은 고딕"/>
              </a:rPr>
              <a:t>로</a:t>
            </a:r>
            <a:r>
              <a:rPr lang="en-US" altLang="ko-KR" sz="4400" b="1" dirty="0">
                <a:solidFill>
                  <a:srgbClr val="E2E8F0"/>
                </a:solidFill>
                <a:latin typeface="맑은 고딕"/>
              </a:rPr>
              <a:t>(</a:t>
            </a:r>
            <a:r>
              <a:rPr lang="ko-KR" altLang="en-US" sz="4400" b="1" dirty="0">
                <a:solidFill>
                  <a:srgbClr val="E2E8F0"/>
                </a:solidFill>
                <a:latin typeface="맑은 고딕"/>
              </a:rPr>
              <a:t>채팅</a:t>
            </a:r>
            <a:r>
              <a:rPr lang="en-US" altLang="ko-KR" sz="4400" b="1" dirty="0">
                <a:solidFill>
                  <a:srgbClr val="E2E8F0"/>
                </a:solidFill>
                <a:latin typeface="맑은 고딕"/>
              </a:rPr>
              <a:t>)</a:t>
            </a:r>
            <a:r>
              <a:rPr lang="ko-KR" altLang="en-US" sz="4400" b="1" dirty="0">
                <a:solidFill>
                  <a:srgbClr val="E2E8F0"/>
                </a:solidFill>
                <a:latin typeface="맑은 고딕"/>
              </a:rPr>
              <a:t>만 개발을 할 수 있을까</a:t>
            </a:r>
            <a:r>
              <a:rPr sz="4400" b="1" i="0" dirty="0">
                <a:solidFill>
                  <a:srgbClr val="E2E8F0"/>
                </a:solidFill>
                <a:latin typeface="맑은 고딕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4480091"/>
            <a:ext cx="3657600" cy="279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4754411"/>
            <a:ext cx="12191695" cy="5401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오늘의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질문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— AI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코드를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어떻게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</a:t>
            </a:r>
            <a:r>
              <a:rPr lang="ko-KR" altLang="en-US" sz="2600" b="1" i="0" dirty="0">
                <a:solidFill>
                  <a:srgbClr val="7C3AED"/>
                </a:solidFill>
                <a:latin typeface="맑은 고딕"/>
              </a:rPr>
              <a:t>활용하고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신뢰할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것인가</a:t>
            </a:r>
            <a:endParaRPr sz="2600" b="1" i="0" dirty="0">
              <a:solidFill>
                <a:srgbClr val="7C3AED"/>
              </a:solidFill>
              <a:latin typeface="맑은 고딕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7272A2-819E-8F9A-3D75-1D21C6BC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643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200" b="1" i="0" dirty="0">
                <a:solidFill>
                  <a:srgbClr val="E2E8F0"/>
                </a:solidFill>
                <a:latin typeface="맑은 고딕"/>
              </a:rPr>
              <a:t>180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분</a:t>
            </a:r>
            <a:r>
              <a:rPr lang="en-US" sz="3200" b="1" i="0" dirty="0">
                <a:solidFill>
                  <a:srgbClr val="E2E8F0"/>
                </a:solidFill>
                <a:latin typeface="맑은 고딕"/>
              </a:rPr>
              <a:t> + 60</a:t>
            </a:r>
            <a:r>
              <a:rPr lang="ko-KR" altLang="en-US" sz="3200" b="1" i="0" dirty="0">
                <a:solidFill>
                  <a:srgbClr val="E2E8F0"/>
                </a:solidFill>
                <a:latin typeface="맑은 고딕"/>
              </a:rPr>
              <a:t>분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,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이렇게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갑니다</a:t>
            </a:r>
            <a:r>
              <a:rPr lang="en-US" sz="3200" b="1" dirty="0">
                <a:solidFill>
                  <a:srgbClr val="E2E8F0"/>
                </a:solidFill>
                <a:latin typeface="맑은 고딕"/>
              </a:rPr>
              <a:t>.</a:t>
            </a:r>
            <a:endParaRPr sz="32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944" y="1371600"/>
            <a:ext cx="6583680" cy="4195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dirty="0">
                <a:solidFill>
                  <a:srgbClr val="94A3B8"/>
                </a:solidFill>
                <a:latin typeface="맑은 고딕"/>
              </a:rPr>
              <a:t>1. </a:t>
            </a:r>
            <a:r>
              <a:rPr sz="1900" b="0" i="0" dirty="0" err="1">
                <a:solidFill>
                  <a:srgbClr val="94A3B8"/>
                </a:solidFill>
                <a:latin typeface="맑은 고딕"/>
              </a:rPr>
              <a:t>인트로</a:t>
            </a:r>
            <a:r>
              <a:rPr sz="19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lang="ko-KR" altLang="en-US" sz="1900" b="0" i="0" dirty="0">
                <a:solidFill>
                  <a:srgbClr val="94A3B8"/>
                </a:solidFill>
                <a:latin typeface="맑은 고딕"/>
              </a:rPr>
              <a:t>및 위키 설정</a:t>
            </a:r>
            <a:r>
              <a:rPr sz="1900" b="0" i="0" dirty="0">
                <a:solidFill>
                  <a:srgbClr val="94A3B8"/>
                </a:solidFill>
                <a:latin typeface="맑은 고딕"/>
              </a:rPr>
              <a:t>— </a:t>
            </a:r>
            <a:r>
              <a:rPr sz="1900" b="0" i="0" dirty="0" err="1">
                <a:solidFill>
                  <a:srgbClr val="94A3B8"/>
                </a:solidFill>
                <a:latin typeface="맑은 고딕"/>
              </a:rPr>
              <a:t>방금</a:t>
            </a:r>
            <a:r>
              <a:rPr sz="1900" b="0" i="0" dirty="0">
                <a:solidFill>
                  <a:srgbClr val="94A3B8"/>
                </a:solidFill>
                <a:latin typeface="맑은 고딕"/>
              </a:rPr>
              <a:t> 본 것 (</a:t>
            </a:r>
            <a:r>
              <a:rPr lang="en-US" sz="1900" dirty="0">
                <a:solidFill>
                  <a:srgbClr val="94A3B8"/>
                </a:solidFill>
                <a:latin typeface="맑은 고딕"/>
              </a:rPr>
              <a:t>10</a:t>
            </a:r>
            <a:r>
              <a:rPr sz="1900" b="0" i="0" dirty="0">
                <a:solidFill>
                  <a:srgbClr val="94A3B8"/>
                </a:solidFill>
                <a:latin typeface="맑은 고딕"/>
              </a:rPr>
              <a:t>분</a:t>
            </a:r>
            <a:r>
              <a:rPr lang="en-US" sz="1900" b="0" i="0" dirty="0">
                <a:solidFill>
                  <a:srgbClr val="94A3B8"/>
                </a:solidFill>
                <a:latin typeface="맑은 고딕"/>
              </a:rPr>
              <a:t> + 40</a:t>
            </a:r>
            <a:r>
              <a:rPr lang="ko-KR" altLang="en-US" sz="1900" b="0" i="0">
                <a:solidFill>
                  <a:srgbClr val="94A3B8"/>
                </a:solidFill>
                <a:latin typeface="맑은 고딕"/>
              </a:rPr>
              <a:t>분</a:t>
            </a:r>
            <a:r>
              <a:rPr sz="1900" b="0" i="0">
                <a:solidFill>
                  <a:srgbClr val="94A3B8"/>
                </a:solidFill>
                <a:latin typeface="맑은 고딕"/>
              </a:rPr>
              <a:t>)</a:t>
            </a:r>
            <a:endParaRPr sz="1900" b="0" i="0" dirty="0">
              <a:solidFill>
                <a:srgbClr val="94A3B8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2029968"/>
            <a:ext cx="6583680" cy="4195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dirty="0">
                <a:solidFill>
                  <a:srgbClr val="94A3B8"/>
                </a:solidFill>
                <a:latin typeface="맑은 고딕"/>
              </a:rPr>
              <a:t>2. AI </a:t>
            </a:r>
            <a:r>
              <a:rPr sz="1900" b="0" i="0" dirty="0" err="1">
                <a:solidFill>
                  <a:srgbClr val="94A3B8"/>
                </a:solidFill>
                <a:latin typeface="맑은 고딕"/>
              </a:rPr>
              <a:t>개발</a:t>
            </a:r>
            <a:r>
              <a:rPr sz="1900" b="0" i="0" dirty="0">
                <a:solidFill>
                  <a:srgbClr val="94A3B8"/>
                </a:solidFill>
                <a:latin typeface="맑은 고딕"/>
              </a:rPr>
              <a:t> 3단계 (15분)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734056"/>
            <a:ext cx="508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688336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E2E8F0"/>
                </a:solidFill>
                <a:latin typeface="맑은 고딕"/>
              </a:rPr>
              <a:t>3. 🛠 실습 1 · 환경 구축 (30분)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8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334670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E2E8F0"/>
                </a:solidFill>
                <a:latin typeface="맑은 고딕"/>
              </a:rPr>
              <a:t>4. 🛠 실습 2 · 소스 클론·실행 (15분) ＋☕10분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4050792"/>
            <a:ext cx="508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4005072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E2E8F0"/>
                </a:solidFill>
                <a:latin typeface="맑은 고딕"/>
              </a:rPr>
              <a:t>5. 🛠 실습 3 · IDE 미션 5종 (60분) ＋☕5분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66344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94A3B8"/>
                </a:solidFill>
                <a:latin typeface="맑은 고딕"/>
              </a:rPr>
              <a:t>6. 하네스 — 왜 필요한가 (25분)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321808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94A3B8"/>
                </a:solidFill>
                <a:latin typeface="맑은 고딕"/>
              </a:rPr>
              <a:t>7. 마무리 + Q&amp;A (10분)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554480"/>
            <a:ext cx="3291840" cy="16080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8800" b="1" i="0" dirty="0">
                <a:solidFill>
                  <a:srgbClr val="10B981"/>
                </a:solidFill>
                <a:latin typeface="맑은 고딕"/>
              </a:rPr>
              <a:t>6</a:t>
            </a:r>
            <a:r>
              <a:rPr sz="8800" b="1" i="0" dirty="0">
                <a:solidFill>
                  <a:srgbClr val="10B981"/>
                </a:solidFill>
                <a:latin typeface="맑은 고딕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704" y="3017520"/>
            <a:ext cx="4117224" cy="712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오늘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시간의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60%는
</a:t>
            </a: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여러분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키보드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위에서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(105/</a:t>
            </a:r>
            <a:r>
              <a:rPr lang="en-US" sz="1700" dirty="0">
                <a:solidFill>
                  <a:srgbClr val="E2E8F0"/>
                </a:solidFill>
                <a:latin typeface="맑은 고딕"/>
              </a:rPr>
              <a:t>180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023360"/>
            <a:ext cx="2194560" cy="121920"/>
          </a:xfrm>
          <a:prstGeom prst="rect">
            <a:avLst/>
          </a:prstGeom>
          <a:solidFill>
            <a:srgbClr val="94A3B8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0" y="4145280"/>
            <a:ext cx="2194560" cy="182880"/>
          </a:xfrm>
          <a:prstGeom prst="rect">
            <a:avLst/>
          </a:prstGeom>
          <a:solidFill>
            <a:srgbClr val="94A3B8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4328160"/>
            <a:ext cx="2194560" cy="365760"/>
          </a:xfrm>
          <a:prstGeom prst="rect">
            <a:avLst/>
          </a:prstGeom>
          <a:solidFill>
            <a:srgbClr val="10B981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12480" y="4693920"/>
            <a:ext cx="2194560" cy="182880"/>
          </a:xfrm>
          <a:prstGeom prst="rect">
            <a:avLst/>
          </a:prstGeom>
          <a:solidFill>
            <a:srgbClr val="10B981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12480" y="4876800"/>
            <a:ext cx="2194560" cy="121920"/>
          </a:xfrm>
          <a:prstGeom prst="rect">
            <a:avLst/>
          </a:prstGeom>
          <a:solidFill>
            <a:srgbClr val="64748B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0" y="4998720"/>
            <a:ext cx="2194560" cy="731520"/>
          </a:xfrm>
          <a:prstGeom prst="rect">
            <a:avLst/>
          </a:prstGeom>
          <a:solidFill>
            <a:srgbClr val="10B981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12480" y="5730240"/>
            <a:ext cx="2194560" cy="60960"/>
          </a:xfrm>
          <a:prstGeom prst="rect">
            <a:avLst/>
          </a:prstGeom>
          <a:solidFill>
            <a:srgbClr val="64748B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412480" y="5791200"/>
            <a:ext cx="2194560" cy="304800"/>
          </a:xfrm>
          <a:prstGeom prst="rect">
            <a:avLst/>
          </a:prstGeom>
          <a:solidFill>
            <a:srgbClr val="94A3B8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12480" y="6096000"/>
            <a:ext cx="2194560" cy="121920"/>
          </a:xfrm>
          <a:prstGeom prst="rect">
            <a:avLst/>
          </a:prstGeom>
          <a:solidFill>
            <a:srgbClr val="94A3B8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EE6BFDA3-2FDD-D065-A930-DAD7CEFC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단계가 오를수록, 신뢰 장치가 쌓인다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3291840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0F172A"/>
                </a:solidFill>
                <a:latin typeface="맑은 고딕"/>
              </a:rPr>
              <a:t>1단계 채팅  </a:t>
            </a:r>
            <a:r>
              <a:rPr sz="1300" b="0" i="0">
                <a:solidFill>
                  <a:srgbClr val="0F172A"/>
                </a:solidFill>
                <a:latin typeface="맑은 고딕"/>
              </a:rPr>
              <a:t>(복붙·1회성)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995928"/>
            <a:ext cx="3017520" cy="5029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300" b="1">
                <a:solidFill>
                  <a:srgbClr val="94A3B8"/>
                </a:solidFill>
                <a:latin typeface="맑은 고딕"/>
              </a:rPr>
              <a:t>✚ 즉시 질의응답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4160520"/>
            <a:ext cx="329184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420624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2단계 IDE  </a:t>
            </a:r>
            <a:r>
              <a:rPr sz="1300" b="0" i="0">
                <a:solidFill>
                  <a:srgbClr val="FFFFFF"/>
                </a:solidFill>
                <a:latin typeface="맑은 고딕"/>
              </a:rPr>
              <a:t>(Antigravity)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944368"/>
            <a:ext cx="3017520" cy="11430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300" b="1" dirty="0">
                <a:solidFill>
                  <a:srgbClr val="3B82F6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3B82F6"/>
                </a:solidFill>
                <a:latin typeface="맑은 고딕"/>
              </a:rPr>
              <a:t>코드베이스</a:t>
            </a:r>
            <a:r>
              <a:rPr sz="1300" b="1" dirty="0">
                <a:solidFill>
                  <a:srgbClr val="3B82F6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B82F6"/>
                </a:solidFill>
                <a:latin typeface="맑은 고딕"/>
              </a:rPr>
              <a:t>접근</a:t>
            </a:r>
            <a:endParaRPr sz="1300" b="1" dirty="0">
              <a:solidFill>
                <a:srgbClr val="3B82F6"/>
              </a:solidFill>
              <a:latin typeface="맑은 고딕"/>
            </a:endParaRPr>
          </a:p>
          <a:p>
            <a:r>
              <a:rPr sz="1300" b="1" dirty="0">
                <a:solidFill>
                  <a:srgbClr val="3B82F6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3B82F6"/>
                </a:solidFill>
                <a:latin typeface="맑은 고딕"/>
              </a:rPr>
              <a:t>반복</a:t>
            </a:r>
            <a:r>
              <a:rPr sz="1300" b="1" dirty="0">
                <a:solidFill>
                  <a:srgbClr val="3B82F6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B82F6"/>
                </a:solidFill>
                <a:latin typeface="맑은 고딕"/>
              </a:rPr>
              <a:t>작업</a:t>
            </a:r>
            <a:r>
              <a:rPr sz="1300" b="1" dirty="0">
                <a:solidFill>
                  <a:srgbClr val="3B82F6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B82F6"/>
                </a:solidFill>
                <a:latin typeface="맑은 고딕"/>
              </a:rPr>
              <a:t>가능</a:t>
            </a:r>
            <a:endParaRPr sz="1300" b="1" dirty="0">
              <a:solidFill>
                <a:srgbClr val="3B82F6"/>
              </a:solidFill>
              <a:latin typeface="맑은 고딕"/>
            </a:endParaRPr>
          </a:p>
          <a:p>
            <a:r>
              <a:rPr sz="1300" b="0" dirty="0">
                <a:solidFill>
                  <a:srgbClr val="64748B"/>
                </a:solidFill>
                <a:latin typeface="맑은 고딕"/>
              </a:rPr>
              <a:t>(1단계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장치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상속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3749040"/>
            <a:ext cx="3291840" cy="1463040"/>
          </a:xfrm>
          <a:prstGeom prst="rect">
            <a:avLst/>
          </a:prstGeom>
          <a:solidFill>
            <a:srgbClr val="7C3AE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379476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3단계 하네스  </a:t>
            </a:r>
            <a:r>
              <a:rPr sz="1300" b="0" i="0">
                <a:solidFill>
                  <a:srgbClr val="FFFFFF"/>
                </a:solidFill>
                <a:latin typeface="맑은 고딕"/>
              </a:rPr>
              <a:t>(Claude Code CLI)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84248"/>
            <a:ext cx="3017520" cy="1691640"/>
          </a:xfrm>
          <a:prstGeom prst="roundRect">
            <a:avLst>
              <a:gd name="adj" fmla="val 4500"/>
            </a:avLst>
          </a:prstGeom>
          <a:solidFill>
            <a:srgbClr val="1E293B">
              <a:alpha val="40000"/>
            </a:srgbClr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en-US" sz="1300" b="1" dirty="0">
                <a:solidFill>
                  <a:srgbClr val="7C3AED"/>
                </a:solidFill>
                <a:latin typeface="맑은 고딕"/>
              </a:rPr>
              <a:t>	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품질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게이트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L1~L4</a:t>
            </a:r>
          </a:p>
          <a:p>
            <a:r>
              <a:rPr lang="en-US" sz="1300" b="1" dirty="0">
                <a:solidFill>
                  <a:srgbClr val="7C3AED"/>
                </a:solidFill>
                <a:latin typeface="맑은 고딕"/>
              </a:rPr>
              <a:t>	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동일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프로세스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보장</a:t>
            </a:r>
            <a:endParaRPr sz="1300" b="1" dirty="0">
              <a:solidFill>
                <a:srgbClr val="7C3AED"/>
              </a:solidFill>
              <a:latin typeface="맑은 고딕"/>
            </a:endParaRPr>
          </a:p>
          <a:p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자동화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Hook·스킬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)</a:t>
            </a:r>
          </a:p>
          <a:p>
            <a:r>
              <a:rPr sz="1300" b="0" dirty="0">
                <a:solidFill>
                  <a:srgbClr val="64748B"/>
                </a:solidFill>
                <a:latin typeface="맑은 고딕"/>
              </a:rPr>
              <a:t>(2단계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장치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상속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E2E8F0"/>
                </a:solidFill>
                <a:latin typeface="맑은 고딕"/>
              </a:rPr>
              <a:t>장치 개수 </a:t>
            </a:r>
            <a:r>
              <a:rPr sz="1900" b="1" i="0">
                <a:solidFill>
                  <a:srgbClr val="10B981"/>
                </a:solidFill>
                <a:latin typeface="맑은 고딕"/>
              </a:rPr>
              <a:t>1개 → 3개 → 6개</a:t>
            </a:r>
            <a:r>
              <a:rPr sz="1900" b="0" i="0">
                <a:solidFill>
                  <a:srgbClr val="E2E8F0"/>
                </a:solidFill>
                <a:latin typeface="맑은 고딕"/>
              </a:rPr>
              <a:t> — 단계가 오를 때마다 장치가 2배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64748B"/>
                </a:solidFill>
                <a:latin typeface="맑은 고딕"/>
              </a:rPr>
              <a:t>3단계는 후반부에 다시 옵니다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71E1D74B-EDA2-89D0-CD51-DB864468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 dirty="0">
                <a:solidFill>
                  <a:srgbClr val="94A3B8"/>
                </a:solidFill>
                <a:latin typeface="맑은 고딕"/>
              </a:rPr>
              <a:t>● 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1단계 ·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채팅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— “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다들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해보셨죠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463040"/>
            <a:ext cx="5446623" cy="32918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691640"/>
            <a:ext cx="48979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94A3B8"/>
                </a:solidFill>
                <a:latin typeface="맑은 고딕"/>
              </a:rPr>
              <a:t>좋았던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86000"/>
            <a:ext cx="4897983" cy="1464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E2E8F0"/>
                </a:solidFill>
                <a:latin typeface="맑은 고딕"/>
              </a:rPr>
              <a:t>✚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즉시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질의응답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 i="0" dirty="0">
                <a:solidFill>
                  <a:srgbClr val="E2E8F0"/>
                </a:solidFill>
                <a:latin typeface="맑은 고딕"/>
              </a:rPr>
              <a:t>✚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진입장벽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제로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 i="0" dirty="0">
                <a:solidFill>
                  <a:srgbClr val="E2E8F0"/>
                </a:solidFill>
                <a:latin typeface="맑은 고딕"/>
              </a:rPr>
              <a:t>✚ </a:t>
            </a:r>
            <a:r>
              <a:rPr lang="ko-KR" altLang="en-US" sz="2000" b="0" i="0" dirty="0">
                <a:solidFill>
                  <a:srgbClr val="E2E8F0"/>
                </a:solidFill>
                <a:latin typeface="맑은 고딕"/>
              </a:rPr>
              <a:t>프롬프트</a:t>
            </a:r>
            <a:r>
              <a:rPr lang="en-US" altLang="ko-KR" sz="2000" b="0" i="0" dirty="0">
                <a:solidFill>
                  <a:srgbClr val="E2E8F0"/>
                </a:solidFill>
                <a:latin typeface="맑은 고딕"/>
              </a:rPr>
              <a:t>(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코드</a:t>
            </a:r>
            <a:r>
              <a:rPr lang="en-US" sz="2000" b="0" i="0" dirty="0">
                <a:solidFill>
                  <a:srgbClr val="E2E8F0"/>
                </a:solidFill>
                <a:latin typeface="맑은 고딕"/>
              </a:rPr>
              <a:t>)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조각·단발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질문에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최강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33007" y="1463040"/>
            <a:ext cx="5446623" cy="32918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7" y="1691640"/>
            <a:ext cx="48979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59E0B"/>
                </a:solidFill>
                <a:latin typeface="맑은 고딕"/>
              </a:rPr>
              <a:t>그런데…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286000"/>
            <a:ext cx="4897983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복붙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지옥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—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소스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나르기의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반복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 i="0" dirty="0">
                <a:solidFill>
                  <a:srgbClr val="E2E8F0"/>
                </a:solidFill>
                <a:latin typeface="맑은 고딕"/>
              </a:rPr>
              <a:t>새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창마다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컨텍스트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리셋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결과는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1회성,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재현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불가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296F88E-48BC-F990-6F87-51BE80137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2단계 · IDE —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AI가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코드베이스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안으로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들어온다</a:t>
            </a:r>
            <a:endParaRPr sz="32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064" y="155448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복붙 없이 </a:t>
            </a:r>
            <a:r>
              <a:rPr sz="2100" b="1" i="0">
                <a:solidFill>
                  <a:srgbClr val="E2E8F0"/>
                </a:solidFill>
                <a:latin typeface="맑은 고딕"/>
              </a:rPr>
              <a:t>코드베이스 직접 접근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수정 → 확인 → 재요청, </a:t>
            </a:r>
            <a:r>
              <a:rPr sz="2100" b="1" i="0">
                <a:solidFill>
                  <a:srgbClr val="E2E8F0"/>
                </a:solidFill>
                <a:latin typeface="맑은 고딕"/>
              </a:rPr>
              <a:t>반복 작업</a:t>
            </a:r>
            <a:r>
              <a:rPr sz="2100" b="0" i="0">
                <a:solidFill>
                  <a:srgbClr val="E2E8F0"/>
                </a:solidFill>
                <a:latin typeface="맑은 고딕"/>
              </a:rPr>
              <a:t> 가능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멀티모달 입력(이미지·문서)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4023360"/>
            <a:ext cx="5486400" cy="9144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4160520"/>
            <a:ext cx="5029200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오늘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실습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3의 </a:t>
            </a: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무대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— 60분간 </a:t>
            </a: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여기서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미션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</a:t>
            </a:r>
            <a:r>
              <a:rPr lang="en-US" sz="1800" b="1" i="0" dirty="0">
                <a:solidFill>
                  <a:srgbClr val="3B82F6"/>
                </a:solidFill>
                <a:latin typeface="맑은 고딕"/>
              </a:rPr>
              <a:t>4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개를 </a:t>
            </a:r>
            <a:r>
              <a:rPr lang="ko-KR" altLang="en-US" b="1" dirty="0">
                <a:solidFill>
                  <a:srgbClr val="3B82F6"/>
                </a:solidFill>
                <a:latin typeface="맑은 고딕"/>
              </a:rPr>
              <a:t>수행합니다</a:t>
            </a:r>
            <a:r>
              <a:rPr lang="en-US" altLang="ko-KR" b="1" dirty="0">
                <a:solidFill>
                  <a:srgbClr val="3B82F6"/>
                </a:solidFill>
                <a:latin typeface="맑은 고딕"/>
              </a:rPr>
              <a:t>.</a:t>
            </a:r>
            <a:endParaRPr sz="1800" b="1" i="0" dirty="0">
              <a:solidFill>
                <a:srgbClr val="3B82F6"/>
              </a:solidFill>
              <a:latin typeface="맑은 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1FE8D2-E137-9180-5680-74BD694DF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371601"/>
            <a:ext cx="5169103" cy="4480560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7A6700-5F71-3331-F000-2DB9A728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7C3AED"/>
                </a:solidFill>
                <a:latin typeface="맑은 고딕"/>
              </a:rPr>
              <a:t>● </a:t>
            </a:r>
            <a:r>
              <a:rPr sz="3200" b="1" i="0">
                <a:solidFill>
                  <a:srgbClr val="E2E8F0"/>
                </a:solidFill>
                <a:latin typeface="맑은 고딕"/>
              </a:rPr>
              <a:t>3단계 · 하네스 — 신뢰를 시스템으로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737360"/>
            <a:ext cx="4206240" cy="6400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828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64748B"/>
                </a:solidFill>
                <a:latin typeface="맑은 고딕"/>
              </a:rPr>
              <a:t>🔒 컨텍스트 유지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578608"/>
            <a:ext cx="4206240" cy="6400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6700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64748B"/>
                </a:solidFill>
                <a:latin typeface="맑은 고딕"/>
              </a:rPr>
              <a:t>🔒 동일 프로세스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3419856"/>
            <a:ext cx="4206240" cy="6400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351129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64748B"/>
                </a:solidFill>
                <a:latin typeface="맑은 고딕"/>
              </a:rPr>
              <a:t>🔒 품질 게이트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466344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7C3AED"/>
                </a:solidFill>
                <a:latin typeface="맑은 고딕"/>
              </a:rPr>
              <a:t>“이게 왜 필요한지는 —
여러분이 직접 느낀 뒤에 다시 이야기합니다.”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45920"/>
            <a:ext cx="4937760" cy="32918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94A3B8"/>
                </a:solidFill>
                <a:latin typeface="Consolas"/>
              </a:rPr>
              <a:t>$ </a:t>
            </a:r>
            <a:r>
              <a:rPr sz="2600" b="1" i="0">
                <a:solidFill>
                  <a:srgbClr val="FFFFFF"/>
                </a:solidFill>
                <a:latin typeface="Consolas"/>
              </a:rPr>
              <a:t>claude </a:t>
            </a:r>
            <a:r>
              <a:rPr sz="2600" b="0" i="0">
                <a:solidFill>
                  <a:srgbClr val="7C3AED"/>
                </a:solidFill>
                <a:latin typeface="Consolas"/>
              </a:rPr>
              <a:t>▌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98F55E2D-5706-7D1A-575B-1DEAC0F8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작업의 크기에 따라, 필요한 장치가 다르다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262343"/>
              </p:ext>
            </p:extLst>
          </p:nvPr>
        </p:nvGraphicFramePr>
        <p:xfrm>
          <a:off x="512064" y="1463040"/>
          <a:ext cx="11155680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1단계 채팅</a:t>
                      </a:r>
                    </a:p>
                  </a:txBody>
                  <a:tcPr marL="101600" marR="101600" marT="38100" marB="38100" anchor="ctr"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2단계 IDE</a:t>
                      </a:r>
                    </a:p>
                  </a:txBody>
                  <a:tcPr marL="101600" marR="101600" marT="38100" marB="38100"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3단계 하네스</a:t>
                      </a:r>
                    </a:p>
                  </a:txBody>
                  <a:tcPr marL="101600" marR="101600" marT="38100" marB="38100"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컨텍스트 유지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○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매번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복붙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, 새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창마다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리셋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◐ </a:t>
                      </a:r>
                      <a:r>
                        <a:rPr sz="1500" b="1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코드베이스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접근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세션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단위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● </a:t>
                      </a:r>
                      <a:r>
                        <a:rPr sz="1500" b="1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문서·메모리로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세션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간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유지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재현성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○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사람·시점마다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결과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상이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◐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같은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IDE라도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프롬프트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의존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●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동일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프로세스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보장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품질 통제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○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전적으로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사람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눈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◐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사람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리뷰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+ IDE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보조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●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품질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게이트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L1~L4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자동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검증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2E1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적합 작업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단발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질문·코드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조각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화면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단위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개발·수정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마이그레이션·반복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대량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작업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09BE50-A8F5-F868-8412-501D9992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384048"/>
            <a:ext cx="111675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0B981"/>
                </a:solidFill>
                <a:latin typeface="맑은 고딕"/>
              </a:rPr>
              <a:t>🛠 실습 1 · 30분 (00:25–00:55)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77724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환경 구축 — 10분 투자로 AI 개발 환경 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508760"/>
            <a:ext cx="8778240" cy="457200"/>
          </a:xfrm>
          <a:prstGeom prst="roundRect">
            <a:avLst>
              <a:gd name="adj" fmla="val 4500"/>
            </a:avLst>
          </a:prstGeom>
          <a:solidFill>
            <a:srgbClr val="0E332A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572768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사전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설치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회신자는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0B981"/>
                </a:solidFill>
                <a:latin typeface="맑은 고딕"/>
              </a:rPr>
              <a:t>빠른</a:t>
            </a:r>
            <a:r>
              <a:rPr sz="15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0B981"/>
                </a:solidFill>
                <a:latin typeface="맑은 고딕"/>
              </a:rPr>
              <a:t>확인</a:t>
            </a:r>
            <a:r>
              <a:rPr sz="15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0B981"/>
                </a:solidFill>
                <a:latin typeface="맑은 고딕"/>
              </a:rPr>
              <a:t>열만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수행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→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끝나면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옆자리를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도와주세요</a:t>
            </a:r>
            <a:endParaRPr sz="1500" b="0" i="0" dirty="0">
              <a:solidFill>
                <a:srgbClr val="E2E8F0"/>
              </a:solidFill>
              <a:latin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917545"/>
              </p:ext>
            </p:extLst>
          </p:nvPr>
        </p:nvGraphicFramePr>
        <p:xfrm>
          <a:off x="512064" y="2148840"/>
          <a:ext cx="1115568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설치 항목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빠른 확인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WSL + Ubuntu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리눅스 개발 환경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Consolas"/>
                        </a:rPr>
                        <a:t>wsl -l -v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B82F6"/>
                          </a:solidFill>
                          <a:latin typeface="맑은 고딕"/>
                        </a:rPr>
                        <a:t>▎Antigravity IDE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실습 3의 무대 (IDE 채팅 개발)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앱 실행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VSCode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보조 에디터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Consolas"/>
                        </a:rPr>
                        <a:t>code --version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</a:rPr>
                        <a:t>▎Claude Code CLI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3단계 하네스의 입구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Consolas"/>
                        </a:rPr>
                        <a:t>claude --version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Node.js · </a:t>
                      </a:r>
                      <a:r>
                        <a:rPr lang="en-US"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JAVA </a:t>
                      </a:r>
                      <a:r>
                        <a:rPr lang="en-US" altLang="ko-KR"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· 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Python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프론트/백 런타임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Consolas"/>
                        </a:rPr>
                        <a:t>node -v · python --version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2064" y="58064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상세 명령은 다음 두 장 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5788152"/>
            <a:ext cx="7535487" cy="310896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Consolas"/>
              </a:rPr>
              <a:t>https://github.com/softallice/ai-edu/blob/master/docs/ai-</a:t>
            </a:r>
            <a:r>
              <a:rPr lang="ko-KR" altLang="en-US" sz="1200" b="1" dirty="0">
                <a:solidFill>
                  <a:srgbClr val="0F172A"/>
                </a:solidFill>
                <a:latin typeface="Consolas"/>
              </a:rPr>
              <a:t>실습</a:t>
            </a:r>
            <a:r>
              <a:rPr lang="en-US" altLang="ko-KR" sz="1200" b="1" dirty="0">
                <a:solidFill>
                  <a:srgbClr val="0F172A"/>
                </a:solidFill>
                <a:latin typeface="Consolas"/>
              </a:rPr>
              <a:t>/0.</a:t>
            </a:r>
            <a:r>
              <a:rPr lang="ko-KR" altLang="en-US" sz="1200" b="1" dirty="0">
                <a:solidFill>
                  <a:srgbClr val="0F172A"/>
                </a:solidFill>
                <a:latin typeface="Consolas"/>
              </a:rPr>
              <a:t>사전설치가이드</a:t>
            </a:r>
            <a:r>
              <a:rPr lang="en-US" altLang="ko-KR" sz="1200" b="1" dirty="0">
                <a:solidFill>
                  <a:srgbClr val="0F172A"/>
                </a:solidFill>
                <a:latin typeface="Consolas"/>
              </a:rPr>
              <a:t>.</a:t>
            </a:r>
            <a:r>
              <a:rPr lang="en-US" sz="1200" b="1" dirty="0">
                <a:solidFill>
                  <a:srgbClr val="0F172A"/>
                </a:solidFill>
                <a:latin typeface="Consolas"/>
              </a:rPr>
              <a:t>md</a:t>
            </a:r>
            <a:endParaRPr sz="1200" b="1" dirty="0">
              <a:solidFill>
                <a:srgbClr val="0F172A"/>
              </a:solidFill>
              <a:latin typeface="Consolas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6FA79B5-C4BD-B703-1CA2-E6389DC2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① WSL + Ubuntu — 관리자 권한으로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9855" y="457200"/>
            <a:ext cx="2743200" cy="310896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Consolas"/>
              </a:rPr>
              <a:t>⚠ 관리자 권한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371600"/>
            <a:ext cx="11167567" cy="12344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>
              <a:lnSpc>
                <a:spcPct val="120000"/>
              </a:lnSpc>
            </a:pPr>
            <a:r>
              <a:rPr sz="2200">
                <a:solidFill>
                  <a:srgbClr val="94A3B8"/>
                </a:solidFill>
                <a:latin typeface="Consolas"/>
              </a:rPr>
              <a:t># ① 관리자 PowerShell에서 (시작 메뉴 → 우클릭 → 관리자 권한)</a:t>
            </a:r>
          </a:p>
          <a:p>
            <a:pPr>
              <a:lnSpc>
                <a:spcPct val="120000"/>
              </a:lnSpc>
            </a:pPr>
            <a:r>
              <a:rPr sz="2200">
                <a:solidFill>
                  <a:srgbClr val="FFFFFF"/>
                </a:solidFill>
                <a:latin typeface="Consolas"/>
              </a:rPr>
              <a:t>wsl --install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834640"/>
            <a:ext cx="1116756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E2E8F0"/>
                </a:solidFill>
                <a:latin typeface="맑은 고딕"/>
              </a:rPr>
              <a:t>② 재부팅 → Ubuntu 첫 실행 → 사용자명/암호 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3520440"/>
            <a:ext cx="11167567" cy="14630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94A3B8"/>
                </a:solidFill>
                <a:latin typeface="Consolas"/>
              </a:rPr>
              <a:t># ③ 확인</a:t>
            </a:r>
          </a:p>
          <a:p>
            <a:pPr>
              <a:lnSpc>
                <a:spcPct val="120000"/>
              </a:lnSpc>
            </a:pPr>
            <a:r>
              <a:rPr sz="2000">
                <a:solidFill>
                  <a:srgbClr val="FFFFFF"/>
                </a:solidFill>
                <a:latin typeface="Consolas"/>
              </a:rPr>
              <a:t>wsl -l -v</a:t>
            </a:r>
          </a:p>
          <a:p>
            <a:pPr>
              <a:lnSpc>
                <a:spcPct val="120000"/>
              </a:lnSpc>
            </a:pPr>
            <a:r>
              <a:rPr sz="2000">
                <a:solidFill>
                  <a:srgbClr val="10B981"/>
                </a:solidFill>
                <a:latin typeface="Consolas"/>
              </a:rPr>
              <a:t>→ Ubuntu   Running   2        ← 초록 글씨가 보이면 성공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3935" y="59893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범례:  흰색 = 입력  ·  초록 = 기대 출력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C8FFC6A-80C2-06E9-886B-0F4E7088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dirty="0">
                <a:solidFill>
                  <a:srgbClr val="E2E8F0"/>
                </a:solidFill>
                <a:latin typeface="맑은 고딕"/>
              </a:rPr>
              <a:t>②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도구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4종 —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위에서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아래로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순서대로</a:t>
            </a:r>
            <a:endParaRPr sz="32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1371600"/>
            <a:ext cx="5469483" cy="20116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508760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Antigravity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057400"/>
            <a:ext cx="5012283" cy="707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9E0B"/>
                </a:solidFill>
                <a:latin typeface="Consolas"/>
                <a:hlinkClick r:id="rId2"/>
              </a:rPr>
              <a:t>https://antigravity.google/download</a:t>
            </a:r>
            <a:endParaRPr lang="en-US" sz="1500" dirty="0">
              <a:solidFill>
                <a:srgbClr val="F59E0B"/>
              </a:solidFill>
              <a:latin typeface="Consolas"/>
            </a:endParaRPr>
          </a:p>
          <a:p>
            <a:pPr>
              <a:lnSpc>
                <a:spcPct val="140000"/>
              </a:lnSpc>
            </a:pPr>
            <a:r>
              <a:rPr lang="en-US" sz="1500" b="0" i="0" dirty="0">
                <a:solidFill>
                  <a:srgbClr val="F59E0B"/>
                </a:solidFill>
                <a:latin typeface="Consolas"/>
              </a:rPr>
              <a:t>-&gt; </a:t>
            </a:r>
            <a:r>
              <a:rPr lang="ko-KR" altLang="en-US" sz="1500" dirty="0">
                <a:solidFill>
                  <a:srgbClr val="F59E0B"/>
                </a:solidFill>
                <a:latin typeface="Consolas"/>
              </a:rPr>
              <a:t>윈도우용 다운로드</a:t>
            </a:r>
            <a:endParaRPr sz="1500" b="0" i="0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0147" y="1371600"/>
            <a:ext cx="5469483" cy="20116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8747" y="1508760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VSCode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747" y="2057400"/>
            <a:ext cx="5012283" cy="7057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9E0B"/>
                </a:solidFill>
                <a:latin typeface="Consolas"/>
                <a:hlinkClick r:id="rId3"/>
              </a:rPr>
              <a:t>https://code.visualstudio.com/</a:t>
            </a:r>
            <a:endParaRPr lang="en-US" sz="1500" dirty="0">
              <a:solidFill>
                <a:srgbClr val="F59E0B"/>
              </a:solidFill>
              <a:latin typeface="Consolas"/>
            </a:endParaRPr>
          </a:p>
          <a:p>
            <a:pPr>
              <a:lnSpc>
                <a:spcPct val="140000"/>
              </a:lnSpc>
            </a:pPr>
            <a:r>
              <a:rPr sz="1500" b="0" i="0" dirty="0">
                <a:solidFill>
                  <a:srgbClr val="10B981"/>
                </a:solidFill>
                <a:latin typeface="Consolas"/>
              </a:rPr>
              <a:t>code --version   →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버전이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보이면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성공</a:t>
            </a:r>
            <a:endParaRPr sz="1500" b="0" i="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2064" y="3611880"/>
            <a:ext cx="5469483" cy="20116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317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3749040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7C3AED"/>
                </a:solidFill>
                <a:latin typeface="맑은 고딕"/>
              </a:rPr>
              <a:t>Claude Code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297680"/>
            <a:ext cx="5012283" cy="7057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9E0B"/>
                </a:solidFill>
                <a:latin typeface="Consolas"/>
              </a:rPr>
              <a:t>https://code.claude.com/docs/en/overview</a:t>
            </a:r>
            <a:endParaRPr sz="1500" b="0" i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40000"/>
              </a:lnSpc>
            </a:pPr>
            <a:r>
              <a:rPr sz="1500" b="0" i="0" dirty="0" err="1">
                <a:solidFill>
                  <a:srgbClr val="10B981"/>
                </a:solidFill>
                <a:latin typeface="Consolas"/>
              </a:rPr>
              <a:t>claude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--version →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버전이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보이면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성공</a:t>
            </a:r>
            <a:endParaRPr sz="1500" b="0" i="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0147" y="3611880"/>
            <a:ext cx="5469483" cy="20116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8747" y="3749040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Node.js ·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4297680"/>
            <a:ext cx="5012283" cy="707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500" b="0" i="0" dirty="0" err="1">
                <a:solidFill>
                  <a:srgbClr val="F59E0B"/>
                </a:solidFill>
                <a:latin typeface="Consolas"/>
              </a:rPr>
              <a:t>sudo</a:t>
            </a:r>
            <a:r>
              <a:rPr lang="en-US" sz="1500" b="0" i="0" dirty="0">
                <a:solidFill>
                  <a:srgbClr val="F59E0B"/>
                </a:solidFill>
                <a:latin typeface="Consolas"/>
              </a:rPr>
              <a:t> apt-get install -y </a:t>
            </a:r>
            <a:r>
              <a:rPr lang="en-US" sz="1500" b="0" i="0" dirty="0" err="1">
                <a:solidFill>
                  <a:srgbClr val="F59E0B"/>
                </a:solidFill>
                <a:latin typeface="Consolas"/>
              </a:rPr>
              <a:t>nodejs</a:t>
            </a:r>
            <a:endParaRPr lang="en-US" sz="1500" b="0" i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40000"/>
              </a:lnSpc>
            </a:pPr>
            <a:r>
              <a:rPr sz="1500" b="0" i="0" dirty="0">
                <a:solidFill>
                  <a:srgbClr val="FFFFFF"/>
                </a:solidFill>
                <a:latin typeface="Consolas"/>
              </a:rPr>
              <a:t>node -v · python --version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F59E0B"/>
                </a:solidFill>
                <a:latin typeface="맑은 고딕"/>
              </a:rPr>
              <a:t>막히면 다음 장 — 사내망 3대 함정</a:t>
            </a: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00935A37-DFA5-BE78-AD9B-AD3B8B8C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194E02-C8EA-01D4-D3C5-50DDF91DE26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FD774E-E770-905F-8FDC-24EDBA361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7" y="1263289"/>
            <a:ext cx="5725324" cy="35819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53CBD3-75CB-70E6-0A11-06FEC97B9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82" y="316319"/>
            <a:ext cx="6011114" cy="3877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7DD26C-8128-7A0C-D764-02D76F74FDFB}"/>
              </a:ext>
            </a:extLst>
          </p:cNvPr>
          <p:cNvSpPr txBox="1"/>
          <p:nvPr/>
        </p:nvSpPr>
        <p:spPr>
          <a:xfrm>
            <a:off x="512064" y="457200"/>
            <a:ext cx="11167567" cy="643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200" b="1" i="0" dirty="0">
                <a:solidFill>
                  <a:srgbClr val="E2E8F0"/>
                </a:solidFill>
                <a:latin typeface="맑은 고딕"/>
              </a:rPr>
              <a:t>IDE</a:t>
            </a:r>
            <a:r>
              <a:rPr lang="ko-KR" altLang="en-US" sz="3200" b="1" i="0" dirty="0">
                <a:solidFill>
                  <a:srgbClr val="E2E8F0"/>
                </a:solidFill>
                <a:latin typeface="맑은 고딕"/>
              </a:rPr>
              <a:t>에 </a:t>
            </a:r>
            <a:r>
              <a:rPr lang="en-US" altLang="ko-KR" sz="3200" b="1" i="0" dirty="0">
                <a:solidFill>
                  <a:srgbClr val="E2E8F0"/>
                </a:solidFill>
                <a:latin typeface="맑은 고딕"/>
              </a:rPr>
              <a:t>Extensions</a:t>
            </a:r>
            <a:r>
              <a:rPr lang="ko-KR" altLang="en-US" sz="3200" b="1" i="0" dirty="0">
                <a:solidFill>
                  <a:srgbClr val="E2E8F0"/>
                </a:solidFill>
                <a:latin typeface="맑은 고딕"/>
              </a:rPr>
              <a:t> 설치</a:t>
            </a:r>
            <a:endParaRPr sz="32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93E125F-DF32-D329-E70F-92A6782EFE9D}"/>
              </a:ext>
            </a:extLst>
          </p:cNvPr>
          <p:cNvSpPr/>
          <p:nvPr/>
        </p:nvSpPr>
        <p:spPr>
          <a:xfrm>
            <a:off x="394854" y="2445628"/>
            <a:ext cx="5185064" cy="10598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44AD24-5C4F-F2AB-2FCE-A25B16D86FCB}"/>
              </a:ext>
            </a:extLst>
          </p:cNvPr>
          <p:cNvSpPr/>
          <p:nvPr/>
        </p:nvSpPr>
        <p:spPr>
          <a:xfrm>
            <a:off x="6289409" y="2328652"/>
            <a:ext cx="5185064" cy="10598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99B3AE-C309-5245-4A5B-10603660F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975" y="3603305"/>
            <a:ext cx="10898121" cy="305795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798A1A-A7BB-88E5-78EA-076BC26193C2}"/>
              </a:ext>
            </a:extLst>
          </p:cNvPr>
          <p:cNvSpPr/>
          <p:nvPr/>
        </p:nvSpPr>
        <p:spPr>
          <a:xfrm>
            <a:off x="1086265" y="4193535"/>
            <a:ext cx="5185064" cy="10598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27BB7C2-D1C3-5661-0392-F9177567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086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3634E-E254-1D1B-5269-9D7E68895A8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57ADC2-A1EA-B408-3368-18AB947F2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88" y="374469"/>
            <a:ext cx="5197571" cy="6096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0BEE195-5CBC-0B0E-5E5F-7F68D6399F35}"/>
              </a:ext>
            </a:extLst>
          </p:cNvPr>
          <p:cNvSpPr/>
          <p:nvPr/>
        </p:nvSpPr>
        <p:spPr>
          <a:xfrm>
            <a:off x="3466011" y="1010194"/>
            <a:ext cx="8525692" cy="42149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ysClr val="windowText" lastClr="000000"/>
                </a:solidFill>
              </a:rPr>
              <a:t>export ANTHROPIC_API_KEY="</a:t>
            </a:r>
            <a:r>
              <a:rPr lang="en-US" altLang="ko-KR" sz="2800" dirty="0" err="1">
                <a:solidFill>
                  <a:sysClr val="windowText" lastClr="000000"/>
                </a:solidFill>
              </a:rPr>
              <a:t>your_api_key_here</a:t>
            </a:r>
            <a:r>
              <a:rPr lang="en-US" altLang="ko-KR" sz="2800" dirty="0">
                <a:solidFill>
                  <a:sysClr val="windowText" lastClr="000000"/>
                </a:solidFill>
              </a:rPr>
              <a:t>“</a:t>
            </a:r>
          </a:p>
          <a:p>
            <a:r>
              <a:rPr lang="en-US" altLang="ko-KR" sz="2800" dirty="0">
                <a:solidFill>
                  <a:schemeClr val="tx1"/>
                </a:solidFill>
              </a:rPr>
              <a:t>      </a:t>
            </a:r>
            <a:r>
              <a:rPr lang="ko-KR" altLang="ko-KR" sz="2800" dirty="0" err="1">
                <a:solidFill>
                  <a:schemeClr val="tx1"/>
                </a:solidFill>
              </a:rPr>
              <a:t>source</a:t>
            </a:r>
            <a:r>
              <a:rPr lang="ko-KR" altLang="ko-KR" sz="2800" dirty="0">
                <a:solidFill>
                  <a:schemeClr val="tx1"/>
                </a:solidFill>
              </a:rPr>
              <a:t> ~/.</a:t>
            </a:r>
            <a:r>
              <a:rPr lang="ko-KR" altLang="ko-KR" sz="2800" dirty="0" err="1">
                <a:solidFill>
                  <a:schemeClr val="tx1"/>
                </a:solidFill>
              </a:rPr>
              <a:t>zshrc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75772F-E773-8229-F1F7-5C8FA6CE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988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막혔다면 — 내 증상부터 찾으세요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520179"/>
              </p:ext>
            </p:extLst>
          </p:nvPr>
        </p:nvGraphicFramePr>
        <p:xfrm>
          <a:off x="512064" y="1417320"/>
          <a:ext cx="1115568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증상 (이게 보이면)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9E0B"/>
                          </a:solidFill>
                          <a:latin typeface="Consolas"/>
                        </a:rPr>
                        <a:t>SSL certificate problem /
UNABLE_TO_VERIFY_LEAF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사내망</a:t>
                      </a:r>
                      <a:r>
                        <a:rPr sz="14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TLS </a:t>
                      </a:r>
                      <a:r>
                        <a:rPr sz="14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가로채기</a:t>
                      </a:r>
                      <a:r>
                        <a:rPr sz="14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인증서</a:t>
                      </a:r>
                      <a:endParaRPr lang="en-US" sz="14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  <a:p>
                      <a:r>
                        <a:rPr lang="en-US" sz="14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- </a:t>
                      </a:r>
                      <a:r>
                        <a:rPr lang="ko-KR" altLang="en-US" sz="14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농심 인증서 등록</a:t>
                      </a:r>
                      <a:endParaRPr sz="14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사내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루트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인증서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등록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
</a:t>
                      </a:r>
                      <a:r>
                        <a:rPr lang="en-US"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WSL</a:t>
                      </a:r>
                      <a:r>
                        <a:rPr lang="ko-KR" altLang="en-US"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의 우분투에서</a:t>
                      </a:r>
                      <a:endParaRPr sz="13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9E0B"/>
                          </a:solidFill>
                          <a:latin typeface="Consolas"/>
                        </a:rPr>
                        <a:t>다운로드 멈춤 / ETIMEDOUT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맑은 고딕"/>
                        </a:rPr>
                        <a:t>프록시 미설정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Consolas"/>
                        </a:rPr>
                        <a:t>export HTTPS_PROXY= ⚠[사내 프록시 주소]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9E0B"/>
                          </a:solidFill>
                          <a:latin typeface="Consolas"/>
                        </a:rPr>
                        <a:t>wsl --install 실패 / 가상화 오류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맑은 고딕"/>
                        </a:rPr>
                        <a:t>관리자 권한·BIOS 가상화 비활성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관리자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PowerShell </a:t>
                      </a:r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재실행</a:t>
                      </a:r>
                      <a:endParaRPr sz="13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560320" y="5440680"/>
            <a:ext cx="7040880" cy="777240"/>
          </a:xfrm>
          <a:prstGeom prst="roundRect">
            <a:avLst>
              <a:gd name="adj" fmla="val 4500"/>
            </a:avLst>
          </a:prstGeom>
          <a:solidFill>
            <a:srgbClr val="0E332A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557784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 dirty="0">
                <a:solidFill>
                  <a:srgbClr val="10B981"/>
                </a:solidFill>
                <a:latin typeface="맑은 고딕"/>
              </a:rPr>
              <a:t>“3분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이상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막히면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:  손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들기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 🙋 →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옆자리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페어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”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E34202-CFA1-2285-8642-DC440DA6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73152"/>
            <a:ext cx="1116756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✅ CHECKPOINT 1 — 환경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86868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세 줄이 보이면 통과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517355"/>
              </p:ext>
            </p:extLst>
          </p:nvPr>
        </p:nvGraphicFramePr>
        <p:xfrm>
          <a:off x="1280160" y="1828800"/>
          <a:ext cx="9601200" cy="396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입력할 명령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이게 보이면 통과 ✅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2E8F0"/>
                          </a:solidFill>
                          <a:latin typeface="Consolas"/>
                        </a:rPr>
                        <a:t>claude --version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2.1.173 (Claude Code)</a:t>
                      </a:r>
                      <a:endParaRPr sz="1700" b="0" dirty="0">
                        <a:solidFill>
                          <a:srgbClr val="10B981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2E8F0"/>
                          </a:solidFill>
                          <a:latin typeface="Consolas"/>
                        </a:rPr>
                        <a:t>node -v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v24.14.1</a:t>
                      </a:r>
                      <a:endParaRPr sz="1700" b="0" dirty="0">
                        <a:solidFill>
                          <a:srgbClr val="10B981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E2E8F0"/>
                          </a:solidFill>
                          <a:latin typeface="Consolas"/>
                        </a:rPr>
                        <a:t>java --version</a:t>
                      </a:r>
                      <a:endParaRPr sz="2000" b="0" dirty="0">
                        <a:solidFill>
                          <a:srgbClr val="E2E8F0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 err="1">
                          <a:solidFill>
                            <a:srgbClr val="10B981"/>
                          </a:solidFill>
                          <a:latin typeface="Consolas"/>
                        </a:rPr>
                        <a:t>openjdk</a:t>
                      </a:r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 25.0.2 2026-01-20 LTS</a:t>
                      </a:r>
                    </a:p>
                    <a:p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OpenJDK Runtime Environment Corretto-25.0.2.10.1 (build 25.0.2+10-LTS)</a:t>
                      </a:r>
                    </a:p>
                    <a:p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OpenJDK 64-Bit Server VM Corretto-25.0.2.10.1 (build 25.0.2+10-LTS, mixed mode, sharing)</a:t>
                      </a:r>
                      <a:endParaRPr sz="1700" b="0" dirty="0">
                        <a:solidFill>
                          <a:srgbClr val="10B981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7CB0D0-50BA-F1C6-432B-5803E879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384048"/>
            <a:ext cx="111675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0B981"/>
                </a:solidFill>
                <a:latin typeface="맑은 고딕"/>
              </a:rPr>
              <a:t>🛠 실습 2 · 15분 (00:55–01:10)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77724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공개 GitHub에서 클론 — 내 노트북에서 풀스택 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737360"/>
            <a:ext cx="11167567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실습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리포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: </a:t>
            </a:r>
            <a:r>
              <a:rPr sz="2100" b="1" i="0" dirty="0">
                <a:solidFill>
                  <a:srgbClr val="E2E8F0"/>
                </a:solidFill>
                <a:latin typeface="맑은 고딕"/>
              </a:rPr>
              <a:t>ai-</a:t>
            </a:r>
            <a:r>
              <a:rPr sz="2100" b="1" i="0" dirty="0" err="1">
                <a:solidFill>
                  <a:srgbClr val="E2E8F0"/>
                </a:solidFill>
                <a:latin typeface="맑은 고딕"/>
              </a:rPr>
              <a:t>edu</a:t>
            </a:r>
            <a:r>
              <a:rPr sz="21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100" b="1" i="0" dirty="0" err="1">
                <a:solidFill>
                  <a:srgbClr val="E2E8F0"/>
                </a:solidFill>
                <a:latin typeface="맑은 고딕"/>
              </a:rPr>
              <a:t>템플릿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— React-TS(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프론트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) + Spring Boot(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백엔드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목표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1: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프론트엔드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실행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→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브라우저에서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화면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확인</a:t>
            </a:r>
            <a:endParaRPr sz="2100" b="0" i="0" dirty="0">
              <a:solidFill>
                <a:srgbClr val="E2E8F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목표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2: Java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백엔드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구성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확인</a:t>
            </a:r>
            <a:r>
              <a:rPr sz="2100" b="0" i="0" dirty="0">
                <a:solidFill>
                  <a:srgbClr val="E2E8F0"/>
                </a:solidFill>
                <a:latin typeface="맑은 고딕"/>
              </a:rPr>
              <a:t> → </a:t>
            </a:r>
            <a:r>
              <a:rPr sz="2100" b="0" i="0" dirty="0" err="1">
                <a:solidFill>
                  <a:srgbClr val="E2E8F0"/>
                </a:solidFill>
                <a:latin typeface="맑은 고딕"/>
              </a:rPr>
              <a:t>기동</a:t>
            </a:r>
            <a:endParaRPr sz="2100" b="0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194560" y="4572000"/>
            <a:ext cx="7772400" cy="566928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onsolas"/>
              </a:rPr>
              <a:t>https://github.com/softallice/ai-edu</a:t>
            </a:r>
            <a:endParaRPr sz="2000" b="1" dirty="0">
              <a:solidFill>
                <a:srgbClr val="0F172A"/>
              </a:solidFill>
              <a:latin typeface="Consolas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0CB3D-D581-C339-9091-FAB940F4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좌: 프론트 / 우: 백엔드 — 둘 다 띄웁니다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463040"/>
            <a:ext cx="5446623" cy="3383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/>
            <a:r>
              <a:rPr sz="1500" b="1" dirty="0" err="1">
                <a:solidFill>
                  <a:srgbClr val="94A3B8"/>
                </a:solidFill>
                <a:latin typeface="맑은 고딕"/>
              </a:rPr>
              <a:t>프론트엔드</a:t>
            </a:r>
            <a:r>
              <a:rPr sz="1500" b="1" dirty="0">
                <a:solidFill>
                  <a:srgbClr val="94A3B8"/>
                </a:solidFill>
                <a:latin typeface="맑은 고딕"/>
              </a:rPr>
              <a:t> (React-TS)</a:t>
            </a:r>
            <a:endParaRPr lang="en-US" sz="1500" b="1" dirty="0">
              <a:solidFill>
                <a:srgbClr val="94A3B8"/>
              </a:solidFill>
              <a:latin typeface="맑은 고딕"/>
            </a:endParaRPr>
          </a:p>
          <a:p>
            <a:r>
              <a:rPr lang="en-US" sz="1500" b="1" dirty="0" err="1">
                <a:solidFill>
                  <a:schemeClr val="bg1"/>
                </a:solidFill>
                <a:latin typeface="맑은 고딕"/>
              </a:rPr>
              <a:t>mkdir</a:t>
            </a:r>
            <a:r>
              <a:rPr lang="en-US" sz="1500" b="1" dirty="0">
                <a:solidFill>
                  <a:schemeClr val="bg1"/>
                </a:solidFill>
                <a:latin typeface="맑은 고딕"/>
              </a:rPr>
              <a:t> work</a:t>
            </a:r>
          </a:p>
          <a:p>
            <a:r>
              <a:rPr lang="en-US" sz="1500" b="1" dirty="0">
                <a:solidFill>
                  <a:schemeClr val="bg1"/>
                </a:solidFill>
                <a:latin typeface="맑은 고딕"/>
              </a:rPr>
              <a:t>cd work</a:t>
            </a:r>
            <a:endParaRPr sz="1500" b="1" dirty="0">
              <a:solidFill>
                <a:schemeClr val="bg1"/>
              </a:solidFill>
              <a:latin typeface="맑은 고딕"/>
            </a:endParaRPr>
          </a:p>
          <a:p>
            <a:pPr>
              <a:lnSpc>
                <a:spcPct val="120000"/>
              </a:lnSpc>
            </a:pPr>
            <a:r>
              <a:rPr sz="1700" dirty="0">
                <a:solidFill>
                  <a:srgbClr val="F59E0B"/>
                </a:solidFill>
                <a:latin typeface="Consolas"/>
              </a:rPr>
              <a:t>git clone </a:t>
            </a:r>
            <a:r>
              <a:rPr lang="en-US" sz="1700" dirty="0">
                <a:solidFill>
                  <a:srgbClr val="F59E0B"/>
                </a:solidFill>
                <a:latin typeface="Consolas"/>
                <a:hlinkClick r:id="rId3"/>
              </a:rPr>
              <a:t>ttps://github.com/softallice/ai-edu</a:t>
            </a:r>
            <a:endParaRPr lang="en-US" sz="1700" dirty="0">
              <a:solidFill>
                <a:srgbClr val="F59E0B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59E0B"/>
                </a:solidFill>
                <a:latin typeface="Consolas"/>
              </a:rPr>
              <a:t>c</a:t>
            </a:r>
            <a:r>
              <a:rPr sz="1700" dirty="0">
                <a:solidFill>
                  <a:srgbClr val="F59E0B"/>
                </a:solidFill>
                <a:latin typeface="Consolas"/>
              </a:rPr>
              <a:t>d</a:t>
            </a:r>
            <a:r>
              <a:rPr lang="en-US" sz="1700" dirty="0">
                <a:solidFill>
                  <a:srgbClr val="F59E0B"/>
                </a:solidFill>
                <a:latin typeface="Consolas"/>
              </a:rPr>
              <a:t> frontend</a:t>
            </a:r>
            <a:endParaRPr sz="1700" dirty="0">
              <a:solidFill>
                <a:srgbClr val="F59E0B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lang="en-US" sz="1700" dirty="0" err="1">
                <a:solidFill>
                  <a:srgbClr val="FFFFFF"/>
                </a:solidFill>
                <a:latin typeface="Consolas"/>
              </a:rPr>
              <a:t>pnpm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install &amp;&amp; </a:t>
            </a:r>
            <a:r>
              <a:rPr lang="en-US" sz="1700" dirty="0" err="1">
                <a:solidFill>
                  <a:srgbClr val="FFFFFF"/>
                </a:solidFill>
                <a:latin typeface="Consolas"/>
              </a:rPr>
              <a:t>pnpm</a:t>
            </a:r>
            <a:r>
              <a:rPr lang="en-US" sz="1700" dirty="0">
                <a:solidFill>
                  <a:srgbClr val="FFFFFF"/>
                </a:solidFill>
                <a:latin typeface="Consolas"/>
              </a:rPr>
              <a:t> dev</a:t>
            </a:r>
            <a:endParaRPr sz="1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sz="1700" dirty="0">
                <a:solidFill>
                  <a:srgbClr val="10B981"/>
                </a:solidFill>
                <a:latin typeface="Consolas"/>
              </a:rPr>
              <a:t>→ http://localhost:</a:t>
            </a:r>
            <a:r>
              <a:rPr lang="en-US" altLang="ko-KR" sz="1700" dirty="0">
                <a:solidFill>
                  <a:srgbClr val="10B981"/>
                </a:solidFill>
                <a:latin typeface="Consolas"/>
              </a:rPr>
              <a:t>5173</a:t>
            </a:r>
            <a:endParaRPr sz="170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33007" y="1463040"/>
            <a:ext cx="5446623" cy="3383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/>
            <a:endParaRPr sz="170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2064" y="5212080"/>
            <a:ext cx="11167567" cy="3678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 dirty="0">
                <a:solidFill>
                  <a:srgbClr val="94A3B8"/>
                </a:solidFill>
                <a:latin typeface="맑은 고딕"/>
              </a:rPr>
              <a:t>팁: </a:t>
            </a:r>
            <a:r>
              <a:rPr lang="en-US" sz="1600" b="0" i="0" dirty="0" err="1">
                <a:solidFill>
                  <a:srgbClr val="94A3B8"/>
                </a:solidFill>
                <a:latin typeface="맑은 고딕"/>
              </a:rPr>
              <a:t>p</a:t>
            </a:r>
            <a:r>
              <a:rPr sz="1600" b="0" i="0" dirty="0" err="1">
                <a:solidFill>
                  <a:srgbClr val="94A3B8"/>
                </a:solidFill>
                <a:latin typeface="맑은 고딕"/>
              </a:rPr>
              <a:t>npm</a:t>
            </a:r>
            <a:r>
              <a:rPr sz="1600" b="0" i="0" dirty="0">
                <a:solidFill>
                  <a:srgbClr val="94A3B8"/>
                </a:solidFill>
                <a:latin typeface="맑은 고딕"/>
              </a:rPr>
              <a:t> install 중 SSL </a:t>
            </a:r>
            <a:r>
              <a:rPr sz="1600" b="0" i="0" dirty="0" err="1">
                <a:solidFill>
                  <a:srgbClr val="94A3B8"/>
                </a:solidFill>
                <a:latin typeface="맑은 고딕"/>
              </a:rPr>
              <a:t>에러</a:t>
            </a:r>
            <a:r>
              <a:rPr sz="1600" b="0" i="0" dirty="0">
                <a:solidFill>
                  <a:srgbClr val="94A3B8"/>
                </a:solidFill>
                <a:latin typeface="맑은 고딕"/>
              </a:rPr>
              <a:t> → S13 표 1행(</a:t>
            </a:r>
            <a:r>
              <a:rPr sz="1600" b="0" i="0" dirty="0" err="1">
                <a:solidFill>
                  <a:srgbClr val="94A3B8"/>
                </a:solidFill>
                <a:latin typeface="맑은 고딕"/>
              </a:rPr>
              <a:t>인증서</a:t>
            </a:r>
            <a:r>
              <a:rPr sz="1600" b="0" i="0" dirty="0">
                <a:solidFill>
                  <a:srgbClr val="94A3B8"/>
                </a:solidFill>
                <a:latin typeface="맑은 고딕"/>
              </a:rPr>
              <a:t>) </a:t>
            </a:r>
            <a:r>
              <a:rPr sz="1600" b="0" i="0" dirty="0" err="1">
                <a:solidFill>
                  <a:srgbClr val="94A3B8"/>
                </a:solidFill>
                <a:latin typeface="맑은 고딕"/>
              </a:rPr>
              <a:t>참조</a:t>
            </a:r>
            <a:endParaRPr sz="1600" b="0" i="0" dirty="0">
              <a:solidFill>
                <a:srgbClr val="94A3B8"/>
              </a:solidFill>
              <a:latin typeface="맑은 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394CF7D-8F71-CD09-72DD-71F1B59CD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423" y="1709582"/>
            <a:ext cx="5333261" cy="2933670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ED33A4-BA40-FB83-45AA-81F84A1E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73152"/>
            <a:ext cx="1116756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✅ CHECKPOINT 2 — 풀스택 기동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928635"/>
              </p:ext>
            </p:extLst>
          </p:nvPr>
        </p:nvGraphicFramePr>
        <p:xfrm>
          <a:off x="1463040" y="914400"/>
          <a:ext cx="9235440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확인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이게 보이면 통과 ✅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E2E8F0"/>
                          </a:solidFill>
                          <a:latin typeface="Consolas"/>
                        </a:rPr>
                        <a:t>브라우저</a:t>
                      </a:r>
                      <a:r>
                        <a:rPr sz="1600" b="0" dirty="0">
                          <a:solidFill>
                            <a:srgbClr val="E2E8F0"/>
                          </a:solidFill>
                          <a:latin typeface="Consolas"/>
                        </a:rPr>
                        <a:t> localhost:</a:t>
                      </a:r>
                      <a:r>
                        <a:rPr lang="en-US" sz="1600" b="0" dirty="0">
                          <a:solidFill>
                            <a:srgbClr val="E2E8F0"/>
                          </a:solidFill>
                          <a:latin typeface="Consolas"/>
                        </a:rPr>
                        <a:t>5173</a:t>
                      </a:r>
                      <a:endParaRPr sz="1600" b="0" dirty="0">
                        <a:solidFill>
                          <a:srgbClr val="E2E8F0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실습 앱 첫 화면이 뜬다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백엔드 콘솔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0B981"/>
                          </a:solidFill>
                          <a:latin typeface="Consolas"/>
                        </a:rPr>
                        <a:t>Started ...Application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3200400"/>
            <a:ext cx="12191695" cy="746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1" i="0" dirty="0">
                <a:solidFill>
                  <a:srgbClr val="10B981"/>
                </a:solidFill>
                <a:latin typeface="맑은 고딕"/>
              </a:rPr>
              <a:t>“</a:t>
            </a:r>
            <a:r>
              <a:rPr sz="3800" b="1" i="0" dirty="0" err="1">
                <a:solidFill>
                  <a:srgbClr val="10B981"/>
                </a:solidFill>
                <a:latin typeface="맑은 고딕"/>
              </a:rPr>
              <a:t>지금</a:t>
            </a:r>
            <a:r>
              <a:rPr sz="38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lang="ko-KR" altLang="en-US" sz="3800" b="1" dirty="0">
                <a:solidFill>
                  <a:srgbClr val="10B981"/>
                </a:solidFill>
                <a:latin typeface="맑은 고딕"/>
              </a:rPr>
              <a:t>개발 환경의 설정을 마쳤습니다</a:t>
            </a:r>
            <a:r>
              <a:rPr lang="en-US" altLang="ko-KR" sz="3800" b="1" dirty="0">
                <a:solidFill>
                  <a:srgbClr val="10B981"/>
                </a:solidFill>
                <a:latin typeface="맑은 고딕"/>
              </a:rPr>
              <a:t>＂</a:t>
            </a:r>
            <a:endParaRPr sz="3800" b="1" i="0" dirty="0">
              <a:solidFill>
                <a:srgbClr val="10B981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0895" y="598932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☕ 휴식 10분 (01:10–01:20) — 환경 미완성자는 강사·페어가 지원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EAE9183-64EC-C249-418C-F404B2148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384048"/>
            <a:ext cx="111675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0B981"/>
                </a:solidFill>
                <a:latin typeface="맑은 고딕"/>
              </a:rPr>
              <a:t>🛠 실습 3 (핵심) · 60분 (01:20–02:20)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77724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미션 5개 — 입력이 점점 자유로워집니다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4206240"/>
            <a:ext cx="2057400" cy="91440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4279392"/>
            <a:ext cx="1874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172A"/>
                </a:solidFill>
                <a:latin typeface="맑은 고딕"/>
              </a:rPr>
              <a:t>M1 </a:t>
            </a:r>
            <a:r>
              <a:rPr sz="1400" b="0" i="0">
                <a:solidFill>
                  <a:srgbClr val="0F172A"/>
                </a:solidFill>
                <a:latin typeface="맑은 고딕"/>
              </a:rPr>
              <a:t>기존 화면 수정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172A"/>
                </a:solidFill>
                <a:latin typeface="맑은 고딕"/>
              </a:rPr>
              <a:t>시작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3749040"/>
            <a:ext cx="2057400" cy="13716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98064" y="3822192"/>
            <a:ext cx="1874520" cy="6797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dirty="0">
                <a:solidFill>
                  <a:srgbClr val="0F172A"/>
                </a:solidFill>
                <a:latin typeface="맑은 고딕"/>
              </a:rPr>
              <a:t>M2 </a:t>
            </a:r>
            <a:r>
              <a:rPr sz="1400" b="0" i="0" dirty="0" err="1">
                <a:solidFill>
                  <a:srgbClr val="0F172A"/>
                </a:solidFill>
                <a:latin typeface="맑은 고딕"/>
              </a:rPr>
              <a:t>이미지</a:t>
            </a:r>
            <a:r>
              <a:rPr sz="1400" b="0" i="0" dirty="0">
                <a:solidFill>
                  <a:srgbClr val="0F172A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</a:rPr>
              <a:t>시안→구현</a:t>
            </a:r>
            <a:endParaRPr sz="1400" b="0" i="0" dirty="0">
              <a:solidFill>
                <a:srgbClr val="0F172A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01184" y="3291840"/>
            <a:ext cx="2057400" cy="1828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92624" y="3364992"/>
            <a:ext cx="1874520" cy="6797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dirty="0">
                <a:solidFill>
                  <a:srgbClr val="FFFFFF"/>
                </a:solidFill>
                <a:latin typeface="맑은 고딕"/>
              </a:rPr>
              <a:t>M3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프롬프트만으로</a:t>
            </a:r>
            <a:r>
              <a:rPr sz="1400" b="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신규</a:t>
            </a:r>
            <a:endParaRPr sz="1400" b="0" i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01184" y="2834640"/>
            <a:ext cx="2057400" cy="36576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01184" y="286207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F172A"/>
                </a:solidFill>
                <a:latin typeface="맑은 고딕"/>
              </a:rPr>
              <a:t>옆자리와 결과 비교!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95744" y="2834640"/>
            <a:ext cx="2057400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87184" y="2907792"/>
            <a:ext cx="187452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M4 </a:t>
            </a:r>
            <a:r>
              <a:rPr sz="1400" b="0" i="0">
                <a:solidFill>
                  <a:srgbClr val="FFFFFF"/>
                </a:solidFill>
                <a:latin typeface="맑은 고딕"/>
              </a:rPr>
              <a:t>설계서 md 기반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“문서가 곧 프롬프트”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95744" y="2377440"/>
            <a:ext cx="2057400" cy="365760"/>
          </a:xfrm>
          <a:prstGeom prst="roundRect">
            <a:avLst>
              <a:gd name="adj" fmla="val 4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5744" y="240487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F172A"/>
                </a:solidFill>
                <a:latin typeface="맑은 고딕"/>
              </a:rPr>
              <a:t>M3과 비교 — 안정적!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0304" y="2377440"/>
            <a:ext cx="2057400" cy="2743200"/>
          </a:xfrm>
          <a:prstGeom prst="rect">
            <a:avLst/>
          </a:prstGeom>
          <a:solidFill>
            <a:schemeClr val="tx2"/>
          </a:solidFill>
          <a:ln w="254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81744" y="2450592"/>
            <a:ext cx="1874520" cy="949042"/>
          </a:xfrm>
          <a:prstGeom prst="rect">
            <a:avLst/>
          </a:prstGeom>
          <a:solidFill>
            <a:schemeClr val="tx2"/>
          </a:solidFill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dirty="0">
                <a:solidFill>
                  <a:schemeClr val="bg1"/>
                </a:solidFill>
                <a:latin typeface="맑은 고딕"/>
              </a:rPr>
              <a:t>M5 </a:t>
            </a:r>
            <a:r>
              <a:rPr lang="en-US" sz="1400" b="0" i="0" dirty="0" err="1">
                <a:solidFill>
                  <a:schemeClr val="bg1"/>
                </a:solidFill>
                <a:latin typeface="맑은 고딕"/>
              </a:rPr>
              <a:t>claude</a:t>
            </a:r>
            <a:r>
              <a:rPr lang="en-US" sz="14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lang="ko-KR" altLang="en-US" sz="1400" b="0" i="0" dirty="0" err="1">
                <a:solidFill>
                  <a:schemeClr val="bg1"/>
                </a:solidFill>
                <a:latin typeface="맑은 고딕"/>
              </a:rPr>
              <a:t>하네스를</a:t>
            </a:r>
            <a:r>
              <a:rPr lang="ko-KR" altLang="en-US" sz="1400" b="0" i="0" dirty="0">
                <a:solidFill>
                  <a:schemeClr val="bg1"/>
                </a:solidFill>
                <a:latin typeface="맑은 고딕"/>
              </a:rPr>
              <a:t> 이용한 개발</a:t>
            </a:r>
            <a:endParaRPr sz="1200" b="0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2064" y="5257800"/>
            <a:ext cx="11167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4748B"/>
                </a:solidFill>
                <a:latin typeface="맑은 고딕"/>
              </a:rPr>
              <a:t>각 10~12분 권장 · 총 60분 (개요·회고 포함, 01:20–02:20)    ─ 난이도 ▲ = 입력의 자유도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E2E8F0"/>
                </a:solidFill>
                <a:latin typeface="맑은 고딕"/>
              </a:rPr>
              <a:t>“12분짜리 성공 5번 — 미션 클리어 방식으로 갑니다”</a:t>
            </a:r>
          </a:p>
        </p:txBody>
      </p: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A13BCBF4-C03C-4E7C-D225-3F2935443D93}"/>
              </a:ext>
            </a:extLst>
          </p:cNvPr>
          <p:cNvSpPr/>
          <p:nvPr/>
        </p:nvSpPr>
        <p:spPr>
          <a:xfrm>
            <a:off x="9290304" y="1915668"/>
            <a:ext cx="2057400" cy="365760"/>
          </a:xfrm>
          <a:prstGeom prst="roundRect">
            <a:avLst>
              <a:gd name="adj" fmla="val 4500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7B83A-1D25-7754-5B1E-7984CD6B082B}"/>
              </a:ext>
            </a:extLst>
          </p:cNvPr>
          <p:cNvSpPr txBox="1"/>
          <p:nvPr/>
        </p:nvSpPr>
        <p:spPr>
          <a:xfrm>
            <a:off x="9290304" y="1943100"/>
            <a:ext cx="2057400" cy="298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b="1" i="0" dirty="0">
                <a:solidFill>
                  <a:schemeClr val="bg1"/>
                </a:solidFill>
                <a:latin typeface="맑은 고딕"/>
              </a:rPr>
              <a:t>규칙</a:t>
            </a:r>
            <a:r>
              <a:rPr lang="en-US" altLang="ko-KR" sz="1200" b="1" i="0" dirty="0">
                <a:solidFill>
                  <a:schemeClr val="bg1"/>
                </a:solidFill>
                <a:latin typeface="맑은 고딕"/>
              </a:rPr>
              <a:t>, </a:t>
            </a:r>
            <a:r>
              <a:rPr lang="ko-KR" altLang="en-US" sz="1200" b="1" i="0" dirty="0">
                <a:solidFill>
                  <a:schemeClr val="bg1"/>
                </a:solidFill>
                <a:latin typeface="맑은 고딕"/>
              </a:rPr>
              <a:t>보안</a:t>
            </a:r>
            <a:r>
              <a:rPr lang="en-US" altLang="ko-KR" sz="1200" b="1" i="0" dirty="0">
                <a:solidFill>
                  <a:schemeClr val="bg1"/>
                </a:solidFill>
                <a:latin typeface="맑은 고딕"/>
              </a:rPr>
              <a:t>, </a:t>
            </a:r>
            <a:r>
              <a:rPr lang="ko-KR" altLang="en-US" sz="1200" b="1" i="0" dirty="0">
                <a:solidFill>
                  <a:schemeClr val="bg1"/>
                </a:solidFill>
                <a:latin typeface="맑은 고딕"/>
              </a:rPr>
              <a:t>품질 확보</a:t>
            </a:r>
            <a:endParaRPr sz="1200" b="1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9016DCB5-986B-B816-B23C-B243BA86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A3589A4-438D-CC36-37A5-022193020DE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2762DE-8D81-E92D-2494-B5922C1F5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47" y="1104406"/>
            <a:ext cx="8110399" cy="49795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190847-9A2B-824B-F3A1-020C1A2DBAA3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실행 화면 </a:t>
            </a:r>
            <a:r>
              <a:rPr lang="en-US" altLang="ko-KR" sz="2800" b="1" dirty="0">
                <a:solidFill>
                  <a:srgbClr val="E2E8F0"/>
                </a:solidFill>
                <a:latin typeface="맑은 고딕"/>
              </a:rPr>
              <a:t>localhost:5173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67E7E7-11FB-76DE-C801-F781E4584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652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1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기존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화면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수정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10948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solidFill>
                  <a:srgbClr val="E2E8F0"/>
                </a:solidFill>
                <a:latin typeface="맑은 고딕"/>
              </a:rPr>
              <a:t>http://localhost:5173/tasks</a:t>
            </a:r>
          </a:p>
          <a:p>
            <a:pPr algn="l">
              <a:lnSpc>
                <a:spcPct val="125000"/>
              </a:lnSpc>
            </a:pP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기존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목록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화면에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컬럼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1개를 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추가한다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(예: '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등록일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821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초안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: "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src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/[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목록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파일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경로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]를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열어</a:t>
            </a:r>
            <a:endParaRPr sz="1300" b="0" i="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테이블에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'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등록일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'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컬럼을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추가해줘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날짜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형식은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YYYY-MM-DD."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2E8F0"/>
                </a:solidFill>
                <a:latin typeface="맑은 고딕"/>
              </a:rPr>
              <a:t>브라우저 목록 화면에 새 컬럼이 보인다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① 프롬프트에 파일 경로 명시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② 새 채팅으로 재시도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③ 손 들기 / 옆자리 페어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M1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●○○○○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권장 10분</a:t>
            </a:r>
          </a:p>
        </p:txBody>
      </p: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F91884D7-7978-F153-7514-F8B142D3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BAD18F-1CD0-70FC-939C-C311889A4D3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568BD6-0F9D-7450-7757-03DC8966E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8" y="1714500"/>
            <a:ext cx="5533549" cy="3429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D7BCEB-615B-B47D-7514-06995F3F6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240" y="1723096"/>
            <a:ext cx="5533550" cy="3245551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45E0B4D-2DC3-BF0F-0B90-B3DB33C5D6F4}"/>
              </a:ext>
            </a:extLst>
          </p:cNvPr>
          <p:cNvSpPr/>
          <p:nvPr/>
        </p:nvSpPr>
        <p:spPr>
          <a:xfrm>
            <a:off x="5860473" y="2971800"/>
            <a:ext cx="1049482" cy="7481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1557A-F6E0-75E1-42B9-D9C336DDF0E5}"/>
              </a:ext>
            </a:extLst>
          </p:cNvPr>
          <p:cNvSpPr txBox="1"/>
          <p:nvPr/>
        </p:nvSpPr>
        <p:spPr>
          <a:xfrm>
            <a:off x="3338080" y="581608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CCCCCC"/>
                </a:solidFill>
                <a:effectLst/>
                <a:latin typeface="Segoe WPC"/>
              </a:rPr>
              <a:t>채팅 프롬프트 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Segoe WPC"/>
              </a:rPr>
              <a:t>: </a:t>
            </a:r>
            <a:r>
              <a:rPr lang="ko-KR" altLang="ko-KR" b="0" i="0" dirty="0" err="1">
                <a:solidFill>
                  <a:srgbClr val="CCCCCC"/>
                </a:solidFill>
                <a:effectLst/>
                <a:latin typeface="Segoe WPC"/>
              </a:rPr>
              <a:t>frontend</a:t>
            </a:r>
            <a:r>
              <a:rPr lang="ko-KR" altLang="ko-KR" b="0" i="0" dirty="0">
                <a:solidFill>
                  <a:srgbClr val="CCCCCC"/>
                </a:solidFill>
                <a:effectLst/>
                <a:latin typeface="Segoe WPC"/>
              </a:rPr>
              <a:t> </a:t>
            </a:r>
            <a:r>
              <a:rPr lang="ko-KR" altLang="ko-KR" b="0" i="0" dirty="0" err="1">
                <a:solidFill>
                  <a:srgbClr val="CCCCCC"/>
                </a:solidFill>
                <a:effectLst/>
                <a:latin typeface="Segoe WPC"/>
              </a:rPr>
              <a:t>tasks에서</a:t>
            </a:r>
            <a:r>
              <a:rPr lang="ko-KR" altLang="ko-KR" b="0" i="0" dirty="0">
                <a:solidFill>
                  <a:srgbClr val="CCCCCC"/>
                </a:solidFill>
                <a:effectLst/>
                <a:latin typeface="Segoe WPC"/>
              </a:rPr>
              <a:t> 등록일 컬럼 추가해줘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A8623-2D8D-5A1C-61DF-61C918C0565C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1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기존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화면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수정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결과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05332E-17E7-1AA7-2F4A-E9985476B041}"/>
              </a:ext>
            </a:extLst>
          </p:cNvPr>
          <p:cNvSpPr/>
          <p:nvPr/>
        </p:nvSpPr>
        <p:spPr>
          <a:xfrm>
            <a:off x="11112137" y="2299063"/>
            <a:ext cx="775063" cy="28444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102124D-6E1D-C7DD-EA23-22712C1A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539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>
                <a:solidFill>
                  <a:srgbClr val="E2E8F0"/>
                </a:solidFill>
                <a:latin typeface="맑은 고딕"/>
              </a:rPr>
              <a:t>미션 2 — 이미지로 화면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2E8F0"/>
                </a:solidFill>
                <a:latin typeface="맑은 고딕"/>
              </a:rPr>
              <a:t>화면 시안 이미지 1장을 주고 그대로 구현한다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1571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</a:pPr>
            <a:r>
              <a:rPr sz="1300" b="0" i="0" dirty="0">
                <a:solidFill>
                  <a:srgbClr val="F59E0B"/>
                </a:solidFill>
                <a:latin typeface="Consolas"/>
              </a:rPr>
              <a:t>①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시안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다운로드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: 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ai-</a:t>
            </a:r>
            <a:r>
              <a:rPr lang="en-US" altLang="ko-KR" sz="1300" dirty="0" err="1">
                <a:solidFill>
                  <a:srgbClr val="F59E0B"/>
                </a:solidFill>
                <a:latin typeface="Consolas"/>
              </a:rPr>
              <a:t>edu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/docs/ai-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실습</a:t>
            </a:r>
            <a:r>
              <a:rPr lang="en-US" altLang="ko-KR" sz="1300">
                <a:solidFill>
                  <a:srgbClr val="F59E0B"/>
                </a:solidFill>
                <a:latin typeface="Consolas"/>
              </a:rPr>
              <a:t>/13.</a:t>
            </a:r>
            <a:r>
              <a:rPr lang="ko-KR" altLang="en-US" sz="1300">
                <a:solidFill>
                  <a:srgbClr val="F59E0B"/>
                </a:solidFill>
                <a:latin typeface="Consolas"/>
              </a:rPr>
              <a:t>미션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2-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이미지 화면 만들기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.</a:t>
            </a:r>
            <a:r>
              <a:rPr lang="en-US" altLang="ko-KR" sz="1300" dirty="0" err="1">
                <a:solidFill>
                  <a:srgbClr val="F59E0B"/>
                </a:solidFill>
                <a:latin typeface="Consolas"/>
              </a:rPr>
              <a:t>png</a:t>
            </a:r>
            <a:endParaRPr sz="1300" b="0" i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② IDE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채팅에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이미지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첨부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후: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"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첨부한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시안과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동일한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레이아웃의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화면을</a:t>
            </a:r>
            <a:endParaRPr sz="1300" b="0" i="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React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컴포넌트로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만들어줘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기존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스타일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시스템을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따라줘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2E8F0"/>
                </a:solidFill>
                <a:latin typeface="맑은 고딕"/>
              </a:rPr>
              <a:t>구현 화면이 시안과 같은 레이아웃으로 렌더된다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① 이미지가 첨부됐는지 확인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② “시안의 ⚠[특징 1개]를 꼭 반영해줘”로 재시도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③ 페어 / 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M2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○●○○○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권장 12분</a:t>
            </a:r>
          </a:p>
        </p:txBody>
      </p: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837951F0-9B02-0EEB-68B7-9D70F8397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F665234-3B0A-E563-B7CF-6DE9AD6DC12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F131DC-F8AE-88D8-785D-1876448F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446" y="1103359"/>
            <a:ext cx="7177926" cy="4193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D332CB-7F44-2E81-D4DC-08DB34F599C3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2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— </a:t>
            </a:r>
            <a:r>
              <a:rPr lang="ko-KR" altLang="en-US" sz="2800" b="1" dirty="0">
                <a:solidFill>
                  <a:srgbClr val="E2E8F0"/>
                </a:solidFill>
                <a:latin typeface="맑은 고딕"/>
              </a:rPr>
              <a:t>이미지로 화면 만들기 결과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1B9D22-2796-866E-BC2E-9C777670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339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3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프롬프트만으로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화면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만들기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2E8F0"/>
                </a:solidFill>
                <a:latin typeface="맑은 고딕"/>
              </a:rPr>
              <a:t>이미지 없이 텍스트 요구사항만으로 신규 화면을 만든다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59E0B"/>
                </a:solidFill>
                <a:latin typeface="Consolas"/>
              </a:rPr>
              <a:t>⚠[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미션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 3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예시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프롬프트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 —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초안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:]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"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공지사항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등록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화면을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새로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만들어줘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제목·내용·첨부파일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입력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저장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/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취소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버튼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저장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시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목록으로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이동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2E8F0"/>
                </a:solidFill>
                <a:latin typeface="맑은 고딕"/>
              </a:rPr>
              <a:t>신규 화면이 뜨고 저장 → 목록 이동이 동작한다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① 요구사항을 3줄로 쪼개 다시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② 새 채팅으로 재시도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③ 페어 / 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M3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○○●○○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권장 12분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5455" y="164592"/>
            <a:ext cx="3749039" cy="45720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85455" y="219456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F172A"/>
                </a:solidFill>
                <a:latin typeface="맑은 고딕"/>
              </a:rPr>
              <a:t>💬 “옆 사람과 화면이 같나요?”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58845560-E059-C96B-EFA4-6D903194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F6829E-120E-57F8-2AB8-6FCCDEFBE83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DDCE99-099E-0696-4B2A-874FE533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0" y="1491318"/>
            <a:ext cx="6900021" cy="27181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27F4FC-FCCC-002B-FCF2-1C89900DE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572" y="2780917"/>
            <a:ext cx="6731306" cy="35673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51E60A1-FE8F-FF4B-7E6E-C0D42DEEE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659" y="1561015"/>
            <a:ext cx="5634451" cy="27181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E7C14C-F717-0124-EC19-87AA1631028C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3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프롬프트만으로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화면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만들기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결과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7B2E725-97F2-7A25-77AC-9407BEEE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1304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4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설계서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(md)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기반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개발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2E8F0"/>
                </a:solidFill>
                <a:latin typeface="맑은 고딕"/>
              </a:rPr>
              <a:t>설계서 md를 먼저 쓰고, 그 문서로 화면을 만든다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13217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① design.md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작성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(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템플릿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제공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):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  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화면명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/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입력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필드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표 /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동작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규칙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3줄</a:t>
            </a:r>
          </a:p>
          <a:p>
            <a:pPr>
              <a:lnSpc>
                <a:spcPct val="125000"/>
              </a:lnSpc>
            </a:pPr>
            <a:r>
              <a:rPr sz="1300" b="0" i="0" dirty="0">
                <a:solidFill>
                  <a:srgbClr val="F59E0B"/>
                </a:solidFill>
                <a:latin typeface="Consolas"/>
              </a:rPr>
              <a:t>   ⚠[</a:t>
            </a:r>
            <a:r>
              <a:rPr lang="en-US" sz="1300" dirty="0">
                <a:solidFill>
                  <a:srgbClr val="F59E0B"/>
                </a:solidFill>
                <a:latin typeface="Consolas"/>
              </a:rPr>
              <a:t>ai-</a:t>
            </a:r>
            <a:r>
              <a:rPr lang="en-US" sz="1300" dirty="0" err="1">
                <a:solidFill>
                  <a:srgbClr val="F59E0B"/>
                </a:solidFill>
                <a:latin typeface="Consolas"/>
              </a:rPr>
              <a:t>edu</a:t>
            </a:r>
            <a:r>
              <a:rPr lang="en-US" sz="1300" dirty="0">
                <a:solidFill>
                  <a:srgbClr val="F59E0B"/>
                </a:solidFill>
                <a:latin typeface="Consolas"/>
              </a:rPr>
              <a:t>/docs/ai-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실습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/12.</a:t>
            </a:r>
            <a:r>
              <a:rPr lang="en-US" sz="1300" dirty="0">
                <a:solidFill>
                  <a:srgbClr val="F59E0B"/>
                </a:solidFill>
                <a:latin typeface="Consolas"/>
              </a:rPr>
              <a:t>design.md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]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②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채팅에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: "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design.md를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읽고</a:t>
            </a:r>
            <a:endParaRPr sz="1300" b="0" i="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  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그대로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화면을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구현해줘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2E8F0"/>
                </a:solidFill>
                <a:latin typeface="맑은 고딕"/>
              </a:rPr>
              <a:t>설계서에 적은 항목이 빠짐없이 화면에 반영됐다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① 설계서에 누락 항목 추가 후 “다시 읽고 수정해줘”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② 새 채팅 + 설계서 첨부 재시도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③ 페어 / 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M4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○○○●○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권장 12분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3935" y="164592"/>
            <a:ext cx="4480560" cy="457200"/>
          </a:xfrm>
          <a:prstGeom prst="roundRect">
            <a:avLst>
              <a:gd name="adj" fmla="val 4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3935" y="21945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0F172A"/>
                </a:solidFill>
                <a:latin typeface="맑은 고딕"/>
              </a:rPr>
              <a:t>✦ 미션 3과 비교해 보세요 — 결과가 안정적이지 않나요?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D4276870-5F51-7492-47A3-EF03C23A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F89E467-F6EE-EF55-69D0-8C13A15F5A6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854F4D-FF37-64AF-6F29-9F4B33EBD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84" y="1263489"/>
            <a:ext cx="9738911" cy="4850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F177A8-4DC1-FC8E-D683-AFA355F289A9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4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설계서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(md)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기반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개발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화면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C4F336-83C1-5A3C-210B-9AC87E5B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92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5 — 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Claude </a:t>
            </a:r>
            <a:r>
              <a:rPr lang="ko-KR" altLang="en-US" sz="2800" b="1" i="0" dirty="0" err="1">
                <a:solidFill>
                  <a:srgbClr val="E2E8F0"/>
                </a:solidFill>
                <a:latin typeface="맑은 고딕"/>
              </a:rPr>
              <a:t>하네스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 이용</a:t>
            </a:r>
            <a:r>
              <a:rPr lang="en-US" altLang="ko-KR" sz="2800" b="1" i="0" dirty="0">
                <a:solidFill>
                  <a:srgbClr val="E2E8F0"/>
                </a:solidFill>
                <a:latin typeface="맑은 고딕"/>
              </a:rPr>
              <a:t>(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시연 이나 실습</a:t>
            </a:r>
            <a:r>
              <a:rPr lang="en-US" altLang="ko-KR" sz="2800" b="1" i="0" dirty="0">
                <a:solidFill>
                  <a:srgbClr val="E2E8F0"/>
                </a:solidFill>
                <a:latin typeface="맑은 고딕"/>
              </a:rPr>
              <a:t>)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4023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800" b="1" i="0" dirty="0" err="1">
                <a:solidFill>
                  <a:srgbClr val="E2E8F0"/>
                </a:solidFill>
                <a:latin typeface="맑은 고딕"/>
              </a:rPr>
              <a:t>하네스</a:t>
            </a:r>
            <a:r>
              <a:rPr lang="ko-KR" altLang="en-US" sz="1800" b="1" i="0" dirty="0">
                <a:solidFill>
                  <a:srgbClr val="E2E8F0"/>
                </a:solidFill>
                <a:latin typeface="맑은 고딕"/>
              </a:rPr>
              <a:t> 사용법 및 </a:t>
            </a:r>
            <a:r>
              <a:rPr lang="ko-KR" altLang="en-US" sz="1800" b="1" i="0" dirty="0" err="1">
                <a:solidFill>
                  <a:srgbClr val="E2E8F0"/>
                </a:solidFill>
                <a:latin typeface="맑은 고딕"/>
              </a:rPr>
              <a:t>리팩토링</a:t>
            </a:r>
            <a:r>
              <a:rPr lang="ko-KR" altLang="en-US" sz="1800" b="1" i="0" dirty="0">
                <a:solidFill>
                  <a:srgbClr val="E2E8F0"/>
                </a:solidFill>
                <a:latin typeface="맑은 고딕"/>
              </a:rPr>
              <a:t> 확인</a:t>
            </a:r>
            <a:endParaRPr sz="1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8229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25000"/>
              </a:lnSpc>
              <a:buAutoNum type="arabicPeriod"/>
            </a:pPr>
            <a:r>
              <a:rPr lang="en-US" sz="1300" b="0" i="0" dirty="0">
                <a:solidFill>
                  <a:srgbClr val="F59E0B"/>
                </a:solidFill>
                <a:latin typeface="Consolas"/>
              </a:rPr>
              <a:t>cli </a:t>
            </a:r>
            <a:r>
              <a:rPr lang="en-US" sz="1300" b="0" i="0" dirty="0" err="1">
                <a:solidFill>
                  <a:srgbClr val="F59E0B"/>
                </a:solidFill>
                <a:latin typeface="Consolas"/>
              </a:rPr>
              <a:t>claude</a:t>
            </a:r>
            <a:r>
              <a:rPr lang="en-US" sz="1300" b="0" i="0" dirty="0">
                <a:solidFill>
                  <a:srgbClr val="F59E0B"/>
                </a:solidFill>
                <a:latin typeface="Consolas"/>
              </a:rPr>
              <a:t> </a:t>
            </a:r>
            <a:r>
              <a:rPr lang="ko-KR" altLang="en-US" sz="1300" b="0" i="0" dirty="0">
                <a:solidFill>
                  <a:srgbClr val="F59E0B"/>
                </a:solidFill>
                <a:latin typeface="Consolas"/>
              </a:rPr>
              <a:t>로그인</a:t>
            </a:r>
            <a:endParaRPr lang="en-US" altLang="ko-KR" sz="1300" b="0" i="0" dirty="0">
              <a:solidFill>
                <a:srgbClr val="F59E0B"/>
              </a:solidFill>
              <a:latin typeface="Consolas"/>
            </a:endParaRPr>
          </a:p>
          <a:p>
            <a:pPr marL="342900" indent="-342900" algn="l">
              <a:lnSpc>
                <a:spcPct val="125000"/>
              </a:lnSpc>
              <a:buAutoNum type="arabicPeriod"/>
            </a:pP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“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현재 소스 전체 </a:t>
            </a:r>
            <a:r>
              <a:rPr lang="ko-KR" altLang="en-US" sz="1300" dirty="0" err="1">
                <a:solidFill>
                  <a:srgbClr val="F59E0B"/>
                </a:solidFill>
                <a:latin typeface="Consolas"/>
              </a:rPr>
              <a:t>리팩토링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 요소 확인해줘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”</a:t>
            </a:r>
            <a:endParaRPr lang="en-US" altLang="ko-KR" sz="1300" b="0" i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endParaRPr sz="1300" b="0" i="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385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700" b="1" i="0" dirty="0">
                <a:solidFill>
                  <a:srgbClr val="E2E8F0"/>
                </a:solidFill>
                <a:latin typeface="맑은 고딕"/>
              </a:rPr>
              <a:t>내부 소스코드가 </a:t>
            </a:r>
            <a:r>
              <a:rPr lang="ko-KR" altLang="en-US" sz="1700" b="1" i="0" dirty="0" err="1">
                <a:solidFill>
                  <a:srgbClr val="E2E8F0"/>
                </a:solidFill>
                <a:latin typeface="맑은 고딕"/>
              </a:rPr>
              <a:t>리팩토링</a:t>
            </a:r>
            <a:r>
              <a:rPr lang="ko-KR" altLang="en-US" sz="1700" b="1" i="0" dirty="0">
                <a:solidFill>
                  <a:srgbClr val="E2E8F0"/>
                </a:solidFill>
                <a:latin typeface="맑은 고딕"/>
              </a:rPr>
              <a:t> 되고 개선된다</a:t>
            </a:r>
            <a:r>
              <a:rPr lang="en-US" altLang="ko-KR" sz="1700" b="1" i="0" dirty="0">
                <a:solidFill>
                  <a:srgbClr val="E2E8F0"/>
                </a:solidFill>
                <a:latin typeface="맑은 고딕"/>
              </a:rPr>
              <a:t>.</a:t>
            </a:r>
            <a:endParaRPr sz="17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3334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E2E8F0"/>
                </a:solidFill>
                <a:latin typeface="맑은 고딕"/>
              </a:rPr>
              <a:t>① </a:t>
            </a:r>
            <a:r>
              <a:rPr sz="1400" b="0" i="0" dirty="0" err="1">
                <a:solidFill>
                  <a:srgbClr val="E2E8F0"/>
                </a:solidFill>
                <a:latin typeface="맑은 고딕"/>
              </a:rPr>
              <a:t>페어</a:t>
            </a:r>
            <a:r>
              <a:rPr sz="1400" b="0" i="0" dirty="0">
                <a:solidFill>
                  <a:srgbClr val="E2E8F0"/>
                </a:solidFill>
                <a:latin typeface="맑은 고딕"/>
              </a:rPr>
              <a:t> / 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M5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○○○○●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권장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12분 (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선택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수행자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기준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·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기본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진행은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4분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소개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) · ★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선택</a:t>
            </a:r>
            <a:endParaRPr sz="1400" b="0" i="0" dirty="0">
              <a:solidFill>
                <a:srgbClr val="94A3B8"/>
              </a:solidFill>
              <a:latin typeface="맑은 고딕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9728" y="109728"/>
            <a:ext cx="11972239" cy="6638544"/>
          </a:xfrm>
          <a:prstGeom prst="roundRect">
            <a:avLst>
              <a:gd name="adj" fmla="val 4500"/>
            </a:avLst>
          </a:prstGeom>
          <a:noFill/>
          <a:ln w="254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" y="274320"/>
            <a:ext cx="1188720" cy="365760"/>
          </a:xfrm>
          <a:prstGeom prst="roundRect">
            <a:avLst>
              <a:gd name="adj" fmla="val 45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맑은 고딕"/>
              </a:rPr>
              <a:t>★ 선택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E71AB81F-F5D3-B16C-9F45-4BE9AA44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73152"/>
            <a:ext cx="1116756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✅ CHECKPOINT 3 — 미션 회고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18872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E2E8F0"/>
                </a:solidFill>
                <a:latin typeface="맑은 고딕"/>
              </a:rPr>
              <a:t>Q1. 가장 잘 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828800"/>
            <a:ext cx="4023360" cy="3108960"/>
          </a:xfrm>
          <a:prstGeom prst="roundRect">
            <a:avLst>
              <a:gd name="adj" fmla="val 4500"/>
            </a:avLst>
          </a:prstGeom>
          <a:noFill/>
          <a:ln w="1905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498348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4748B"/>
                </a:solidFill>
                <a:latin typeface="맑은 고딕"/>
              </a:rPr>
              <a:t>현장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1188720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59E0B"/>
                </a:solidFill>
                <a:latin typeface="맑은 고딕"/>
              </a:rPr>
              <a:t>Q2. 가장 답답했던 것은?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828800"/>
            <a:ext cx="6583680" cy="3108960"/>
          </a:xfrm>
          <a:prstGeom prst="roundRect">
            <a:avLst>
              <a:gd name="adj" fmla="val 4500"/>
            </a:avLst>
          </a:prstGeom>
          <a:noFill/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92624" y="498348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F59E0B"/>
                </a:solidFill>
                <a:latin typeface="맑은 고딕"/>
              </a:rPr>
              <a:t>현장 수집 — 앰버 카드로 부착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94A3B8"/>
                </a:solidFill>
                <a:latin typeface="맑은 고딕"/>
              </a:rPr>
              <a:t>그 답답함 — 기억한 채로, 5분만 쉬고 옵시다 ☕ (02:20–02:25)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5CE66922-2ED3-7829-5587-E55AD3A8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31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291840" cy="137160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3017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0F172A"/>
                </a:solidFill>
                <a:latin typeface="맑은 고딕"/>
              </a:rPr>
              <a:t>😩 새 채팅마다
처음부터 설명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731520"/>
            <a:ext cx="3291840" cy="137160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868680"/>
            <a:ext cx="3017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0F172A"/>
                </a:solidFill>
                <a:latin typeface="맑은 고딕"/>
              </a:rPr>
              <a:t>🎲 결과가 제각각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731520"/>
            <a:ext cx="3291840" cy="137160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868680"/>
            <a:ext cx="3017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0F172A"/>
                </a:solidFill>
                <a:latin typeface="맑은 고딕"/>
              </a:rPr>
              <a:t>🔍 품질 검증은
결국 내 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108960"/>
            <a:ext cx="121916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200" b="1" i="0">
                <a:solidFill>
                  <a:srgbClr val="E2E8F0"/>
                </a:solidFill>
                <a:latin typeface="맑은 고딕"/>
              </a:rPr>
              <a:t>“그 답답함, 전 세계 개발자가
똑같이 느꼈습니다.”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0">
                <a:solidFill>
                  <a:srgbClr val="94A3B8"/>
                </a:solidFill>
                <a:latin typeface="맑은 고딕"/>
              </a:rPr>
              <a:t>증거 — 지금 GitHub에서 가장 뜨거운 프로젝트들 →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E57A2BC3-BBA0-81BA-B2B0-2E823855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27432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E2E8F0"/>
                </a:solidFill>
                <a:latin typeface="맑은 고딕"/>
              </a:rPr>
              <a:t>설정과 프로세스가 곧 자산이 된 시대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868680"/>
            <a:ext cx="11167567" cy="1591056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868680"/>
            <a:ext cx="11167567" cy="34747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8823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🥇 1~3위 · 에이전트 자체의 진화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252728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1 hermes-agent  </a:t>
            </a:r>
            <a:r>
              <a:rPr sz="1400" b="1" i="0">
                <a:solidFill>
                  <a:srgbClr val="EAB308"/>
                </a:solidFill>
                <a:latin typeface="맑은 고딕"/>
              </a:rPr>
              <a:t>★17.9만 (4개월)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자가개선 루프 · 절차를 스킬 문서로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563624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2 openclaw  </a:t>
            </a:r>
            <a:r>
              <a:rPr sz="1400" b="1" i="0">
                <a:solidFill>
                  <a:srgbClr val="EAB308"/>
                </a:solidFill>
                <a:latin typeface="맑은 고딕"/>
              </a:rPr>
              <a:t>★37.7만 (총)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로컬 우선 개인 비서 · 생태계 중력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74520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3 ECC  63 에이전트 · 249 스킬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멀티 하네스 통합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85416"/>
            <a:ext cx="1061892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59E0B"/>
                </a:solidFill>
                <a:latin typeface="맑은 고딕"/>
              </a:rPr>
              <a:t>⚠ 주: 일부 수치는 과장 가능성 — 교정된 값 기준 소개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2569464"/>
            <a:ext cx="11167567" cy="1682496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" y="2569464"/>
            <a:ext cx="11167567" cy="3474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25831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🥈 4~7위 · 설정·인프라의 가치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953512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4 superpowers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방법론의 코드화: 브레인스토밍→계획→TDD→리뷰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264408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5 karpathy-skills  </a:t>
            </a:r>
            <a:r>
              <a:rPr sz="1400" b="1" i="0">
                <a:solidFill>
                  <a:srgbClr val="EAB308"/>
                </a:solidFill>
                <a:latin typeface="맑은 고딕"/>
              </a:rPr>
              <a:t>★16만  </a:t>
            </a:r>
            <a:r>
              <a:rPr sz="1300" b="1" i="0">
                <a:solidFill>
                  <a:srgbClr val="7C3AED"/>
                </a:solidFill>
                <a:latin typeface="맑은 고딕"/>
              </a:rPr>
              <a:t>┃65줄짜리 CLAUDE.md┃ — agent-config 붐의 상징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575304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6 agency-agents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14개 부서·200+ 에이전트 가상 조직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886200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7 gstack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YC CEO의 실사용 셋업 공개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4361688"/>
            <a:ext cx="11167567" cy="13716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" y="4361688"/>
            <a:ext cx="11167567" cy="34747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" y="43754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🥉 8~10위 · 연구·디자인 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745736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8 autoresearch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AI가 ML 실험 자가 반복 (단일 GPU 5분 학습)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056632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9 awesome-design-md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DESIGN.md 72개 브랜드 — 마크다운으로 UI 일관성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367528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10 skills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TDD·DDD를 에이전트 워크플로우에 이식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2745AB71-DF14-2A35-57AC-64F69749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우리가 가져올 것 4가지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371600"/>
            <a:ext cx="5469483" cy="2240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1371600"/>
            <a:ext cx="5469483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536192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ECC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084832"/>
            <a:ext cx="50122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“에이전트 63개를 한 지붕 아래”
63 에이전트 · 249 스킬 · 멀티 하네스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3044952"/>
            <a:ext cx="4023360" cy="402336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3090673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가져올 것: 통합 운영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371600"/>
            <a:ext cx="5469483" cy="2240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147" y="1371600"/>
            <a:ext cx="5469483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8747" y="1536192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superpowers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2084832"/>
            <a:ext cx="50122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방법론의 코드화
브레인스토밍 → 계획 → TDD → 리뷰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8747" y="3044952"/>
            <a:ext cx="4023360" cy="402336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0187" y="3090673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가져올 것: 프로세스의 문서화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" y="3840480"/>
            <a:ext cx="5469483" cy="2240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840480"/>
            <a:ext cx="5469483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4005072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andrej-karpathy-skills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553712"/>
            <a:ext cx="50122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“코드 0줄, 마크다운 65줄이 ★16만”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" y="5513832"/>
            <a:ext cx="4023360" cy="402336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" y="5559553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가져올 것: 설정 문서 = 자산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840480"/>
            <a:ext cx="5469483" cy="2240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0147" y="3840480"/>
            <a:ext cx="5469483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8747" y="4005072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gstack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47" y="4553712"/>
            <a:ext cx="50122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YC CEO의 실사용 Claude Code 셋업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38747" y="5513832"/>
            <a:ext cx="4023360" cy="402336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0187" y="5559553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가져올 것: 검증된 실전 구성</a:t>
            </a:r>
          </a:p>
        </p:txBody>
      </p:sp>
      <p:sp>
        <p:nvSpPr>
          <p:cNvPr id="30" name="슬라이드 번호 개체 틀 29">
            <a:extLst>
              <a:ext uri="{FF2B5EF4-FFF2-40B4-BE49-F238E27FC236}">
                <a16:creationId xmlns:a16="http://schemas.microsoft.com/office/drawing/2014/main" id="{886B3819-CBE0-40D7-1F41-0C7D980E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709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E2E8F0"/>
                </a:solidFill>
                <a:latin typeface="맑은 고딕"/>
              </a:rPr>
              <a:t>“여러분이 느낀 문제 = 하네스가 푸는 문제”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3444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F59E0B"/>
                </a:solidFill>
                <a:latin typeface="맑은 고딕"/>
              </a:rPr>
              <a:t>여러분이 느낀 불편함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56271" y="123444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7C3AED"/>
                </a:solidFill>
                <a:latin typeface="맑은 고딕"/>
              </a:rPr>
              <a:t>하네스가 푸는 문제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55448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64592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0F172A"/>
                </a:solidFill>
                <a:latin typeface="맑은 고딕"/>
              </a:rPr>
              <a:t>😩 새 채팅마다
처음부터 설명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64024" y="2025396"/>
            <a:ext cx="265176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56271" y="155448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3431" y="164592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📂 컨텍스트 리셋 대응
(문서·메모리·스킬)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301752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310896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0F172A"/>
                </a:solidFill>
                <a:latin typeface="맑은 고딕"/>
              </a:rPr>
              <a:t>🎲 결과가 제각각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64024" y="3488436"/>
            <a:ext cx="265176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656271" y="301752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3431" y="310896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🔁 동일 프로세스 보장
(에이전트·워크플로우)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" y="448056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457200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0F172A"/>
                </a:solidFill>
                <a:latin typeface="맑은 고딕"/>
              </a:rPr>
              <a:t>🔍 품질 검증은
결국 내 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64024" y="4951476"/>
            <a:ext cx="265176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656271" y="448056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3431" y="457200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🚦 품질 유지 장치
(게이트 L1~L4 자동 검증)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E2E8F0"/>
                </a:solidFill>
                <a:latin typeface="맑은 고딕"/>
              </a:rPr>
              <a:t>하네스 = 이 세 장치를 </a:t>
            </a:r>
            <a:r>
              <a:rPr sz="1900" b="1" i="0">
                <a:solidFill>
                  <a:srgbClr val="7C3AED"/>
                </a:solidFill>
                <a:latin typeface="맑은 고딕"/>
              </a:rPr>
              <a:t>하나로 묶은 시스템</a:t>
            </a:r>
          </a:p>
        </p:txBody>
      </p: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895146AA-C1A1-68A5-5DE6-81C8329BC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7C3AED"/>
                </a:solidFill>
                <a:latin typeface="맑은 고딕"/>
              </a:rPr>
              <a:t>● </a:t>
            </a:r>
            <a:r>
              <a:rPr sz="3200" b="1" i="0">
                <a:solidFill>
                  <a:srgbClr val="E2E8F0"/>
                </a:solidFill>
                <a:latin typeface="맑은 고딕"/>
              </a:rPr>
              <a:t>남의 이야기가 아닙니다 — 우리 회사의 nkit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554480"/>
            <a:ext cx="5760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2E8F0"/>
                </a:solidFill>
                <a:latin typeface="맑은 고딕"/>
              </a:rPr>
              <a:t>ECC 기반</a:t>
            </a:r>
            <a:r>
              <a:rPr sz="2000" b="0" i="0">
                <a:solidFill>
                  <a:srgbClr val="E2E8F0"/>
                </a:solidFill>
                <a:latin typeface="맑은 고딕"/>
              </a:rPr>
              <a:t>으로 구성된 NDS의 AI 프레임워크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000" b="0" i="0">
                <a:solidFill>
                  <a:srgbClr val="E2E8F0"/>
                </a:solidFill>
                <a:latin typeface="맑은 고딕"/>
              </a:rPr>
              <a:t>적용 실전: </a:t>
            </a:r>
            <a:r>
              <a:rPr sz="2000" b="1" i="0">
                <a:solidFill>
                  <a:srgbClr val="E2E8F0"/>
                </a:solidFill>
                <a:latin typeface="맑은 고딕"/>
              </a:rPr>
              <a:t>PowerBuilder → Java/Nexacro 마이그레이션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000" b="0" i="0">
                <a:solidFill>
                  <a:srgbClr val="E2E8F0"/>
                </a:solidFill>
                <a:latin typeface="맑은 고딕"/>
              </a:rPr>
              <a:t>PDCA 엔진 + 품질 게이트 L1~L4 + Hook 통제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000" b="0" i="0">
                <a:solidFill>
                  <a:srgbClr val="E2E8F0"/>
                </a:solidFill>
                <a:latin typeface="맑은 고딕"/>
              </a:rPr>
              <a:t>“레거시엔 안 통한다?” — </a:t>
            </a:r>
            <a:r>
              <a:rPr sz="2000" b="1" i="0">
                <a:solidFill>
                  <a:srgbClr val="7C3AED"/>
                </a:solidFill>
                <a:latin typeface="맑은 고딕"/>
              </a:rPr>
              <a:t>레거시가 바로 주 무대였습니다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743200"/>
            <a:ext cx="4937760" cy="6858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86207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0F172A"/>
                </a:solidFill>
                <a:latin typeface="맑은 고딕"/>
              </a:rPr>
              <a:t>PowerBuilder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997696" y="3429000"/>
            <a:ext cx="292608" cy="27432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0" y="3703320"/>
            <a:ext cx="4937760" cy="685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38221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nkit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997696" y="4389120"/>
            <a:ext cx="292608" cy="27432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4663440"/>
            <a:ext cx="4937760" cy="685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782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Java/Nexacro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3DF4E7-FB32-76A4-9022-2AF43DF2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신뢰는 느낌이 아니라 숫자로 만든다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17320"/>
            <a:ext cx="1463040" cy="502920"/>
          </a:xfrm>
          <a:prstGeom prst="roundRect">
            <a:avLst>
              <a:gd name="adj" fmla="val 45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481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146304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417320"/>
            <a:ext cx="1463040" cy="502920"/>
          </a:xfrm>
          <a:prstGeom prst="roundRect">
            <a:avLst>
              <a:gd name="adj" fmla="val 45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481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146304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1463040" cy="502920"/>
          </a:xfrm>
          <a:prstGeom prst="roundRect">
            <a:avLst>
              <a:gd name="adj" fmla="val 45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481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46304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1463040" cy="502920"/>
          </a:xfrm>
          <a:prstGeom prst="roundRect">
            <a:avLst>
              <a:gd name="adj" fmla="val 45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81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8" y="1463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4748B"/>
                </a:solidFill>
                <a:latin typeface="맑은 고딕"/>
              </a:rPr>
              <a:t>↺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0574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4A3B8"/>
                </a:solidFill>
                <a:latin typeface="맑은 고딕"/>
              </a:rPr>
              <a:t>Check 시 게이트 자동 실행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606040"/>
            <a:ext cx="2148840" cy="155448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7157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L1 코드품질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≥ 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2344" y="315468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E2E8F0"/>
                </a:solidFill>
                <a:latin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606040"/>
            <a:ext cx="2148840" cy="155448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27157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L2 설계일치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108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≥ 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5468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E2E8F0"/>
                </a:solidFill>
                <a:latin typeface="맑은 고딕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2606040"/>
            <a:ext cx="2148840" cy="1554480"/>
          </a:xfrm>
          <a:prstGeom prst="roundRect">
            <a:avLst>
              <a:gd name="adj" fmla="val 4500"/>
            </a:avLst>
          </a:prstGeom>
          <a:solidFill>
            <a:srgbClr val="EF4444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720" y="27157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L3 테스트·동작 🔴 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108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≥ 90%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2984" y="315468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E2E8F0"/>
                </a:solidFill>
                <a:latin typeface="맑은 고딕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606040"/>
            <a:ext cx="2148840" cy="155448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27157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L4 빌드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108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≥ 90%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526280"/>
            <a:ext cx="3200400" cy="548640"/>
          </a:xfrm>
          <a:prstGeom prst="roundRect">
            <a:avLst>
              <a:gd name="adj" fmla="val 4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60" y="46177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통과 → 머지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3434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L3 실패 시 Act로 루프백 ↩ (점선)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55778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“동작하지 않으면 나머지 점수는 무의미 — 그래서 </a:t>
            </a:r>
            <a:r>
              <a:rPr sz="2100" b="1" i="0">
                <a:solidFill>
                  <a:srgbClr val="EF4444"/>
                </a:solidFill>
                <a:latin typeface="맑은 고딕"/>
              </a:rPr>
              <a:t>L3만 CRITICAL</a:t>
            </a:r>
            <a:r>
              <a:rPr sz="2100" b="0" i="0">
                <a:solidFill>
                  <a:srgbClr val="E2E8F0"/>
                </a:solidFill>
                <a:latin typeface="맑은 고딕"/>
              </a:rPr>
              <a:t>”</a:t>
            </a:r>
          </a:p>
        </p:txBody>
      </p:sp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2E215490-5CEA-5FD2-17E8-BBBC5B93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AI로 AI 도구를 만들었습니다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오픈소스 생태계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154680" cy="1691640"/>
          </a:xfrm>
          <a:prstGeom prst="roundRect">
            <a:avLst>
              <a:gd name="adj" fmla="val 45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0F172A"/>
                </a:solidFill>
                <a:latin typeface="맑은 고딕"/>
              </a:rPr>
              <a:t>ECC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맑은 고딕"/>
              </a:rPr>
              <a:t>63 에이전트 · 249 스킬
멀티 하네스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NDS 실전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03120"/>
            <a:ext cx="3154680" cy="169164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212848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nkit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PowerBuilder→Java/Nexacro
PDCA 엔진 · 게이트 L1~L4 · 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9164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오늘 여러분 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103120"/>
            <a:ext cx="3154680" cy="1691640"/>
          </a:xfrm>
          <a:prstGeom prst="roundRect">
            <a:avLst>
              <a:gd name="adj" fmla="val 4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212848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0F172A"/>
                </a:solidFill>
                <a:latin typeface="맑은 고딕"/>
              </a:rPr>
              <a:t>ai-edu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43200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맑은 고딕"/>
              </a:rPr>
              <a:t>OpenCode/Claude Code 이중 하네스
React-TS + Spring Boot 템플릿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840480" y="2743200"/>
            <a:ext cx="640080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310896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94A3B8"/>
                </a:solidFill>
                <a:latin typeface="맑은 고딕"/>
              </a:rPr>
              <a:t>기반 채택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26679" y="2743200"/>
            <a:ext cx="64008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E2E8F0"/>
                </a:solidFill>
                <a:latin typeface="맑은 고딕"/>
              </a:rPr>
              <a:t>점선 경로: ECC · nkit → </a:t>
            </a:r>
            <a:r>
              <a:rPr sz="2400" b="1" i="0">
                <a:solidFill>
                  <a:srgbClr val="7C3AED"/>
                </a:solidFill>
                <a:latin typeface="맑은 고딕"/>
              </a:rPr>
              <a:t>“Claude로 분석”</a:t>
            </a:r>
            <a:r>
              <a:rPr sz="1800" b="0" i="0">
                <a:solidFill>
                  <a:srgbClr val="E2E8F0"/>
                </a:solidFill>
                <a:latin typeface="맑은 고딕"/>
              </a:rPr>
              <a:t> → ai-edu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1" i="0">
                <a:solidFill>
                  <a:srgbClr val="10B981"/>
                </a:solidFill>
                <a:latin typeface="맑은 고딕"/>
              </a:rPr>
              <a:t>“여러분이 방금 클론한 실습 리포가 — 바로 이것입니다.”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2EBDC51D-C07F-C4F8-2998-35846EA5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E2E8F0"/>
                </a:solidFill>
                <a:latin typeface="맑은 고딕"/>
              </a:rPr>
              <a:t>하네스는 완제품이 아니라 — 우리 팀 지식을 담는 그릇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5577840" cy="32918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E2E8F0"/>
                </a:solidFill>
                <a:latin typeface="맑은 고딕"/>
              </a:rPr>
              <a:t>① 운영·공통 프레임워크 분석
→ 절차를 md로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2560320"/>
            <a:ext cx="41148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98280" y="2194560"/>
            <a:ext cx="2834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E2E8F0"/>
                </a:solidFill>
                <a:latin typeface="맑은 고딕"/>
              </a:rPr>
              <a:t>② .claude/skills/에 등록
→ 팀 전체가 동일 절차 사용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8915400" y="2560320"/>
            <a:ext cx="411480" cy="274320"/>
          </a:xfrm>
          <a:prstGeom prst="lef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하네스 엔지니어링이 뭔데? Anthropic이 직접 공개한 AI 성능의 진짜 비밀">
            <a:extLst>
              <a:ext uri="{FF2B5EF4-FFF2-40B4-BE49-F238E27FC236}">
                <a16:creationId xmlns:a16="http://schemas.microsoft.com/office/drawing/2014/main" id="{FF8AAEF3-9281-FF98-0A59-98FA9CC62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11" y="1776314"/>
            <a:ext cx="4579481" cy="257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E005EC-F466-2AB2-C929-BFCC3B26A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32004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같은 그림 — 이제 의미가 채워졌습니다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3291840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0F172A"/>
                </a:solidFill>
                <a:latin typeface="맑은 고딕"/>
              </a:rPr>
              <a:t>1단계 채팅  </a:t>
            </a:r>
            <a:r>
              <a:rPr sz="1300" b="0" i="0">
                <a:solidFill>
                  <a:srgbClr val="0F172A"/>
                </a:solidFill>
                <a:latin typeface="맑은 고딕"/>
              </a:rPr>
              <a:t>(복붙·1회성)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813048"/>
            <a:ext cx="3017520" cy="5029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300" b="1">
                <a:solidFill>
                  <a:srgbClr val="94A3B8"/>
                </a:solidFill>
                <a:latin typeface="맑은 고딕"/>
              </a:rPr>
              <a:t>✚ 즉시 질의응답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977640"/>
            <a:ext cx="329184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402336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2단계 IDE  </a:t>
            </a:r>
            <a:r>
              <a:rPr sz="1300" b="0" i="0">
                <a:solidFill>
                  <a:srgbClr val="FFFFFF"/>
                </a:solidFill>
                <a:latin typeface="맑은 고딕"/>
              </a:rPr>
              <a:t>(Antigravity)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761488"/>
            <a:ext cx="3017520" cy="11430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300" b="1">
                <a:solidFill>
                  <a:srgbClr val="3B82F6"/>
                </a:solidFill>
                <a:latin typeface="맑은 고딕"/>
              </a:rPr>
              <a:t>✚ 코드베이스 접근</a:t>
            </a:r>
          </a:p>
          <a:p>
            <a:r>
              <a:rPr sz="1300" b="1">
                <a:solidFill>
                  <a:srgbClr val="3B82F6"/>
                </a:solidFill>
                <a:latin typeface="맑은 고딕"/>
              </a:rPr>
              <a:t>✚ 반복 작업 가능</a:t>
            </a:r>
          </a:p>
          <a:p>
            <a:r>
              <a:rPr sz="1300" b="0">
                <a:solidFill>
                  <a:srgbClr val="64748B"/>
                </a:solidFill>
                <a:latin typeface="맑은 고딕"/>
              </a:rPr>
              <a:t>(1단계 장치 상속)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3566160"/>
            <a:ext cx="3291840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361188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3단계 하네스  </a:t>
            </a:r>
            <a:r>
              <a:rPr sz="1300" b="0" i="0">
                <a:solidFill>
                  <a:srgbClr val="FFFFFF"/>
                </a:solidFill>
                <a:latin typeface="맑은 고딕"/>
              </a:rPr>
              <a:t>(Claude Code CLI)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01368"/>
            <a:ext cx="3017520" cy="16916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en-US" sz="1300" b="1" dirty="0">
                <a:solidFill>
                  <a:srgbClr val="7C3AED"/>
                </a:solidFill>
                <a:latin typeface="맑은 고딕"/>
              </a:rPr>
              <a:t>	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품질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게이트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L1~L4</a:t>
            </a:r>
          </a:p>
          <a:p>
            <a:r>
              <a:rPr lang="en-US" sz="1300" b="1" dirty="0">
                <a:solidFill>
                  <a:srgbClr val="7C3AED"/>
                </a:solidFill>
                <a:latin typeface="맑은 고딕"/>
              </a:rPr>
              <a:t>	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동일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프로세스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보장</a:t>
            </a:r>
            <a:endParaRPr sz="1300" b="1" dirty="0">
              <a:solidFill>
                <a:srgbClr val="7C3AED"/>
              </a:solidFill>
              <a:latin typeface="맑은 고딕"/>
            </a:endParaRPr>
          </a:p>
          <a:p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자동화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Hook·스킬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)</a:t>
            </a:r>
          </a:p>
          <a:p>
            <a:r>
              <a:rPr sz="1300" b="0" dirty="0">
                <a:solidFill>
                  <a:srgbClr val="64748B"/>
                </a:solidFill>
                <a:latin typeface="맑은 고딕"/>
              </a:rPr>
              <a:t>(2단계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장치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상속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0515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94A3B8"/>
                </a:solidFill>
                <a:latin typeface="맑은 고딕"/>
              </a:rPr>
              <a:t>(다들 해본 것)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0515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0B981"/>
                </a:solidFill>
                <a:latin typeface="맑은 고딕"/>
              </a:rPr>
              <a:t>✅ 오늘 미션 1~4(+5)로 직접 체험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0515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7C3AED"/>
                </a:solidFill>
                <a:latin typeface="맑은 고딕"/>
              </a:rPr>
              <a:t>nkit · ai-edu = 우리 회사의 현재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6235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E2E8F0"/>
                </a:solidFill>
                <a:latin typeface="맑은 고딕"/>
              </a:rPr>
              <a:t>“채팅은 1회성, IDE는 반복, 하네스는 시스템 —
단계가 오를수록 신뢰 장치가 늘어난다.”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767441B-9720-CE41-0461-41C6A2F5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내일 아침, 채팅 한 단계 위에서 시작하세요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41732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 i="0">
                <a:solidFill>
                  <a:srgbClr val="3B82F6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181051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E2E8F0"/>
                </a:solidFill>
                <a:latin typeface="맑은 고딕"/>
              </a:rPr>
              <a:t>오늘 환경 그대로 — </a:t>
            </a:r>
            <a:r>
              <a:rPr sz="2500" b="1" i="0">
                <a:solidFill>
                  <a:srgbClr val="E2E8F0"/>
                </a:solidFill>
                <a:latin typeface="맑은 고딕"/>
              </a:rPr>
              <a:t>본인 업무 코드에 미션 1</a:t>
            </a:r>
            <a:r>
              <a:rPr sz="2500" b="0" i="0">
                <a:solidFill>
                  <a:srgbClr val="E2E8F0"/>
                </a:solidFill>
                <a:latin typeface="맑은 고딕"/>
              </a:rPr>
              <a:t>(기존 화면 수정)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78892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 i="0">
                <a:solidFill>
                  <a:srgbClr val="3B82F6"/>
                </a:solidFill>
                <a:latin typeface="맑은 고딕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318211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E2E8F0"/>
                </a:solidFill>
                <a:latin typeface="맑은 고딕"/>
              </a:rPr>
              <a:t>설계서 md 한 장</a:t>
            </a:r>
            <a:r>
              <a:rPr sz="2500" b="0" i="0">
                <a:solidFill>
                  <a:srgbClr val="E2E8F0"/>
                </a:solidFill>
                <a:latin typeface="맑은 고딕"/>
              </a:rPr>
              <a:t> 써보기 — 65줄이면 충분합니다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416052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 i="0">
                <a:solidFill>
                  <a:srgbClr val="7C3AED"/>
                </a:solidFill>
                <a:latin typeface="맑은 고딕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455371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E2E8F0"/>
                </a:solidFill>
                <a:latin typeface="맑은 고딕"/>
              </a:rPr>
              <a:t>ai-edu 저장소</a:t>
            </a:r>
            <a:r>
              <a:rPr sz="2500" b="0" i="0">
                <a:solidFill>
                  <a:srgbClr val="E2E8F0"/>
                </a:solidFill>
                <a:latin typeface="맑은 고딕"/>
              </a:rPr>
              <a:t> 둘러보고 — 팀 스킬 후보 1개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58521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4A3B8"/>
                </a:solidFill>
                <a:latin typeface="맑은 고딕"/>
              </a:rPr>
              <a:t>전부 개인 권한으로 오늘 당장 가능한 것들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A2ACF588-E78E-C006-9633-99D0DE79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800" b="1" i="0">
                <a:solidFill>
                  <a:srgbClr val="FFFFFF"/>
                </a:solidFill>
                <a:latin typeface="맑은 고딕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0">
                <a:solidFill>
                  <a:srgbClr val="E2E8F0"/>
                </a:solidFill>
                <a:latin typeface="맑은 고딕"/>
              </a:rPr>
              <a:t>무엇이든 물어보세요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0" i="0">
                <a:solidFill>
                  <a:srgbClr val="7C3AED"/>
                </a:solidFill>
                <a:latin typeface="맑은 고딕"/>
              </a:rPr>
              <a:t>“신뢰는 도구가 아니라 </a:t>
            </a:r>
            <a:r>
              <a:rPr sz="2300" b="1" i="0">
                <a:solidFill>
                  <a:srgbClr val="7C3AED"/>
                </a:solidFill>
                <a:latin typeface="맑은 고딕"/>
              </a:rPr>
              <a:t>장치의 축적</a:t>
            </a:r>
            <a:r>
              <a:rPr sz="2300" b="0" i="0">
                <a:solidFill>
                  <a:srgbClr val="7C3AED"/>
                </a:solidFill>
                <a:latin typeface="맑은 고딕"/>
              </a:rPr>
              <a:t>에서 나옵니다”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035040"/>
            <a:ext cx="12191695" cy="3506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감사합니다</a:t>
            </a:r>
            <a:endParaRPr sz="1500" b="0" i="0" dirty="0">
              <a:solidFill>
                <a:srgbClr val="94A3B8"/>
              </a:solidFill>
              <a:latin typeface="맑은 고딕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D4B69AB-ED58-D41D-2503-6EFDB0CF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48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2765</TotalTime>
  <Words>3007</Words>
  <Application>Microsoft Office PowerPoint</Application>
  <PresentationFormat>와이드스크린</PresentationFormat>
  <Paragraphs>518</Paragraphs>
  <Slides>48</Slides>
  <Notes>5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5" baseType="lpstr">
      <vt:lpstr>Mona Sans VF</vt:lpstr>
      <vt:lpstr>Segoe WPC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won-sang</dc:creator>
  <cp:keywords/>
  <dc:description>generated using python-pptx</dc:description>
  <cp:lastModifiedBy>유 원상</cp:lastModifiedBy>
  <cp:revision>130</cp:revision>
  <dcterms:created xsi:type="dcterms:W3CDTF">2013-01-27T09:14:16Z</dcterms:created>
  <dcterms:modified xsi:type="dcterms:W3CDTF">2026-07-02T06:58:50Z</dcterms:modified>
  <cp:category/>
</cp:coreProperties>
</file>